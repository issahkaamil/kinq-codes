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90" r:id="rId6"/>
    <p:sldId id="293" r:id="rId7"/>
    <p:sldId id="305" r:id="rId8"/>
    <p:sldId id="298" r:id="rId9"/>
    <p:sldId id="310" r:id="rId10"/>
    <p:sldId id="311" r:id="rId11"/>
    <p:sldId id="312" r:id="rId12"/>
    <p:sldId id="313" r:id="rId13"/>
    <p:sldId id="309" r:id="rId14"/>
    <p:sldId id="303" r:id="rId15"/>
    <p:sldId id="304" r:id="rId16"/>
    <p:sldId id="295" r:id="rId17"/>
    <p:sldId id="296" r:id="rId18"/>
    <p:sldId id="299" r:id="rId19"/>
    <p:sldId id="28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688E"/>
    <a:srgbClr val="650506"/>
    <a:srgbClr val="00820F"/>
    <a:srgbClr val="E6E6E6"/>
    <a:srgbClr val="0E8CBE"/>
    <a:srgbClr val="3FBEF1"/>
    <a:srgbClr val="109C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p:scale>
          <a:sx n="66" d="100"/>
          <a:sy n="66" d="100"/>
        </p:scale>
        <p:origin x="592"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Rectangle 21"/>
          <p:cNvSpPr/>
          <p:nvPr userDrawn="1"/>
        </p:nvSpPr>
        <p:spPr>
          <a:xfrm>
            <a:off x="-39753" y="-51683"/>
            <a:ext cx="12235732" cy="6909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7180729" y="269109"/>
            <a:ext cx="6320118" cy="6333565"/>
          </a:xfrm>
          <a:prstGeom prst="rect">
            <a:avLst/>
          </a:prstGeom>
          <a:blipFill dpi="0" rotWithShape="1">
            <a:blip r:embed="rId2">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CF8120-5D43-445C-81DE-BB63D27CD451}"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76395-65C6-40C6-B0F2-3F72B3156A66}" type="slidenum">
              <a:rPr lang="en-US" smtClean="0"/>
              <a:t>‹#›</a:t>
            </a:fld>
            <a:endParaRPr lang="en-US"/>
          </a:p>
        </p:txBody>
      </p:sp>
      <p:pic>
        <p:nvPicPr>
          <p:cNvPr id="23" name="Picture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0890" y="483244"/>
            <a:ext cx="2684166" cy="6800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230" y="1392751"/>
            <a:ext cx="5641606" cy="4734065"/>
          </a:xfrm>
        </p:spPr>
        <p:txBody>
          <a:bodyPr/>
          <a:lstStyle>
            <a:lvl1pPr marL="0" indent="0">
              <a:buNone/>
              <a:defRPr/>
            </a:lvl1pPr>
          </a:lstStyle>
          <a:p>
            <a:pPr lvl="0"/>
            <a:endParaRPr lang="en-US" dirty="0"/>
          </a:p>
        </p:txBody>
      </p:sp>
      <p:sp>
        <p:nvSpPr>
          <p:cNvPr id="4" name="Date Placeholder 3"/>
          <p:cNvSpPr>
            <a:spLocks noGrp="1"/>
          </p:cNvSpPr>
          <p:nvPr>
            <p:ph type="dt" sz="half" idx="10"/>
          </p:nvPr>
        </p:nvSpPr>
        <p:spPr/>
        <p:txBody>
          <a:bodyPr/>
          <a:lstStyle/>
          <a:p>
            <a:fld id="{C8CF8120-5D43-445C-81DE-BB63D27CD451}" type="datetimeFigureOut">
              <a:rPr lang="en-US" smtClean="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76395-65C6-40C6-B0F2-3F72B3156A66}" type="slidenum">
              <a:rPr lang="en-US" smtClean="0"/>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03756" y="4335371"/>
            <a:ext cx="3159890" cy="3159890"/>
          </a:xfrm>
          <a:prstGeom prst="rect">
            <a:avLst/>
          </a:prstGeom>
          <a:blipFill>
            <a:blip r:embed="rId3">
              <a:alphaModFix amt="0"/>
            </a:blip>
            <a:stretch>
              <a:fillRect/>
            </a:stretch>
          </a:blipFill>
        </p:spPr>
      </p:pic>
      <p:sp>
        <p:nvSpPr>
          <p:cNvPr id="12" name="Content Placeholder 3"/>
          <p:cNvSpPr>
            <a:spLocks noGrp="1"/>
          </p:cNvSpPr>
          <p:nvPr>
            <p:ph sz="half" idx="2" hasCustomPrompt="1"/>
          </p:nvPr>
        </p:nvSpPr>
        <p:spPr>
          <a:xfrm>
            <a:off x="6540660" y="1775478"/>
            <a:ext cx="5181600" cy="4351338"/>
          </a:xfrm>
        </p:spPr>
        <p:txBody>
          <a:bodyPr/>
          <a:lstStyle>
            <a:lvl1pPr>
              <a:defRPr sz="2800" b="1" baseline="0"/>
            </a:lvl1pPr>
            <a:lvl2pPr marL="457200" marR="0" indent="0" algn="l" defTabSz="914400" rtl="0" eaLnBrk="1" fontAlgn="auto" latinLnBrk="0" hangingPunct="1">
              <a:lnSpc>
                <a:spcPct val="90000"/>
              </a:lnSpc>
              <a:spcBef>
                <a:spcPts val="500"/>
              </a:spcBef>
              <a:spcAft>
                <a:spcPts val="0"/>
              </a:spcAft>
              <a:buClrTx/>
              <a:buSzTx/>
              <a:buFont typeface="Arial" panose="020B0604020202090204" pitchFamily="34" charset="0"/>
              <a:buNone/>
              <a:defRPr/>
            </a:lvl2pPr>
          </a:lstStyle>
          <a:p>
            <a:pPr lvl="0"/>
            <a:r>
              <a:rPr lang="en-US" dirty="0"/>
              <a:t>Table of Contents</a:t>
            </a: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lang="en-US" dirty="0"/>
              <a:t>Topic 1</a:t>
            </a: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lang="en-US" dirty="0"/>
              <a:t>Topic 2</a:t>
            </a: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lang="en-US" dirty="0"/>
              <a:t>Topic 3</a:t>
            </a:r>
          </a:p>
          <a:p>
            <a:pPr marL="685800" marR="0" lvl="1" indent="-228600" algn="l" defTabSz="914400" rtl="0" eaLnBrk="1" fontAlgn="auto" latinLnBrk="0" hangingPunct="1">
              <a:lnSpc>
                <a:spcPct val="90000"/>
              </a:lnSpc>
              <a:spcBef>
                <a:spcPts val="500"/>
              </a:spcBef>
              <a:spcAft>
                <a:spcPts val="0"/>
              </a:spcAft>
              <a:buClrTx/>
              <a:buSzTx/>
              <a:buFont typeface="Arial" panose="020B0604020202090204" pitchFamily="34" charset="0"/>
              <a:buChar char="•"/>
              <a:defRPr/>
            </a:pPr>
            <a:r>
              <a:rPr lang="en-US" dirty="0"/>
              <a:t>Topic 4</a:t>
            </a:r>
          </a:p>
          <a:p>
            <a:pPr lvl="1"/>
            <a:endParaRPr lang="en-US" dirty="0"/>
          </a:p>
        </p:txBody>
      </p:sp>
      <p:grpSp>
        <p:nvGrpSpPr>
          <p:cNvPr id="16" name="Group 15"/>
          <p:cNvGrpSpPr/>
          <p:nvPr userDrawn="1"/>
        </p:nvGrpSpPr>
        <p:grpSpPr>
          <a:xfrm>
            <a:off x="-39753" y="-51682"/>
            <a:ext cx="12235732" cy="1203364"/>
            <a:chOff x="-39753" y="-51682"/>
            <a:chExt cx="12235732" cy="1203364"/>
          </a:xfrm>
        </p:grpSpPr>
        <p:sp>
          <p:nvSpPr>
            <p:cNvPr id="9" name="Rectangle 8"/>
            <p:cNvSpPr/>
            <p:nvPr userDrawn="1"/>
          </p:nvSpPr>
          <p:spPr>
            <a:xfrm>
              <a:off x="-39753" y="-51682"/>
              <a:ext cx="12235732" cy="120336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7229" y="221358"/>
              <a:ext cx="2684166" cy="680012"/>
            </a:xfrm>
            <a:prstGeom prst="rect">
              <a:avLst/>
            </a:prstGeom>
          </p:spPr>
        </p:pic>
        <p:sp>
          <p:nvSpPr>
            <p:cNvPr id="13" name="TextBox 12"/>
            <p:cNvSpPr txBox="1"/>
            <p:nvPr userDrawn="1"/>
          </p:nvSpPr>
          <p:spPr>
            <a:xfrm>
              <a:off x="7802880" y="411500"/>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cxnSp>
          <p:nvCxnSpPr>
            <p:cNvPr id="7" name="Straight Connector 6"/>
            <p:cNvCxnSpPr/>
            <p:nvPr userDrawn="1"/>
          </p:nvCxnSpPr>
          <p:spPr>
            <a:xfrm>
              <a:off x="901337" y="722811"/>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8609870"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9748239"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0668414" y="470310"/>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1687595"/>
            <a:ext cx="10515600" cy="440205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8" name="Rectangle 7"/>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userDrawn="1"/>
        </p:nvGrpSpPr>
        <p:grpSpPr>
          <a:xfrm>
            <a:off x="679568" y="6365200"/>
            <a:ext cx="10820163" cy="487908"/>
            <a:chOff x="528814" y="6238068"/>
            <a:chExt cx="10820163" cy="487908"/>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1" name="Straight Connector 10"/>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a:xfrm>
              <a:off x="7802880" y="6286832"/>
              <a:ext cx="3546097" cy="230832"/>
              <a:chOff x="7802880" y="6286832"/>
              <a:chExt cx="3546097" cy="230832"/>
            </a:xfrm>
          </p:grpSpPr>
          <p:sp>
            <p:nvSpPr>
              <p:cNvPr id="10" name="TextBox 9"/>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12" name="Rectangle 11"/>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 name="Group 26"/>
          <p:cNvGrpSpPr/>
          <p:nvPr userDrawn="1"/>
        </p:nvGrpSpPr>
        <p:grpSpPr>
          <a:xfrm>
            <a:off x="0" y="149580"/>
            <a:ext cx="12414000" cy="77361"/>
            <a:chOff x="0" y="149580"/>
            <a:chExt cx="12414000" cy="77361"/>
          </a:xfrm>
        </p:grpSpPr>
        <p:sp>
          <p:nvSpPr>
            <p:cNvPr id="20" name="Rectangle 19"/>
            <p:cNvSpPr/>
            <p:nvPr userDrawn="1"/>
          </p:nvSpPr>
          <p:spPr>
            <a:xfrm>
              <a:off x="0"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4166144"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8337178" y="149580"/>
              <a:ext cx="4076822" cy="773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p:cNvSpPr/>
          <p:nvPr userDrawn="1"/>
        </p:nvSpPr>
        <p:spPr>
          <a:xfrm>
            <a:off x="-39753" y="270922"/>
            <a:ext cx="12235732" cy="105659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7317" y="400967"/>
            <a:ext cx="10515600" cy="754833"/>
          </a:xfrm>
        </p:spPr>
        <p:txBody>
          <a:bodyPr anchor="b">
            <a:normAutofit/>
          </a:bodyPr>
          <a:lstStyle>
            <a:lvl1pPr>
              <a:defRPr sz="4000">
                <a:solidFill>
                  <a:schemeClr val="bg1"/>
                </a:solidFill>
              </a:defRPr>
            </a:lvl1pPr>
          </a:lstStyle>
          <a:p>
            <a:r>
              <a:rPr lang="en-US" dirty="0"/>
              <a:t>CLICK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566272"/>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8CF8120-5D43-445C-81DE-BB63D27CD451}"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76395-65C6-40C6-B0F2-3F72B3156A66}" type="slidenum">
              <a:rPr lang="en-US" smtClean="0"/>
              <a:t>‹#›</a:t>
            </a:fld>
            <a:endParaRPr lang="en-US"/>
          </a:p>
        </p:txBody>
      </p:sp>
      <p:sp>
        <p:nvSpPr>
          <p:cNvPr id="10" name="Rectangle 9"/>
          <p:cNvSpPr/>
          <p:nvPr userDrawn="1"/>
        </p:nvSpPr>
        <p:spPr>
          <a:xfrm>
            <a:off x="0" y="149580"/>
            <a:ext cx="1897258" cy="77361"/>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1897258" y="149580"/>
            <a:ext cx="6345708" cy="77361"/>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242966" y="149580"/>
            <a:ext cx="1874112" cy="7736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userDrawn="1">
            <p:ph type="title" hasCustomPrompt="1"/>
          </p:nvPr>
        </p:nvSpPr>
        <p:spPr>
          <a:xfrm>
            <a:off x="837317" y="-1696937"/>
            <a:ext cx="10515600" cy="2852737"/>
          </a:xfrm>
        </p:spPr>
        <p:txBody>
          <a:bodyPr anchor="b">
            <a:normAutofit/>
          </a:bodyPr>
          <a:lstStyle>
            <a:lvl1pPr>
              <a:defRPr sz="4000" b="1">
                <a:solidFill>
                  <a:srgbClr val="0A688E"/>
                </a:solidFill>
              </a:defRPr>
            </a:lvl1pPr>
          </a:lstStyle>
          <a:p>
            <a:r>
              <a:rPr lang="en-US" dirty="0"/>
              <a:t>CLICK TO ADD TITLE</a:t>
            </a:r>
          </a:p>
        </p:txBody>
      </p:sp>
      <p:sp>
        <p:nvSpPr>
          <p:cNvPr id="16" name="Rectangle 15"/>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userDrawn="1"/>
        </p:nvGrpSpPr>
        <p:grpSpPr>
          <a:xfrm>
            <a:off x="679568" y="6365200"/>
            <a:ext cx="10820163" cy="487908"/>
            <a:chOff x="528814" y="6238068"/>
            <a:chExt cx="10820163" cy="487908"/>
          </a:xfrm>
        </p:grpSpPr>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9" name="Straight Connector 18"/>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userDrawn="1"/>
          </p:nvGrpSpPr>
          <p:grpSpPr>
            <a:xfrm>
              <a:off x="7802880" y="6286832"/>
              <a:ext cx="3546097" cy="230832"/>
              <a:chOff x="7802880" y="6286832"/>
              <a:chExt cx="3546097" cy="230832"/>
            </a:xfrm>
          </p:grpSpPr>
          <p:sp>
            <p:nvSpPr>
              <p:cNvPr id="21" name="TextBox 20"/>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2" name="Rectangle 21"/>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Content Placeholder 2"/>
          <p:cNvSpPr>
            <a:spLocks noGrp="1"/>
          </p:cNvSpPr>
          <p:nvPr userDrawn="1">
            <p:ph sz="half" idx="13"/>
          </p:nvPr>
        </p:nvSpPr>
        <p:spPr>
          <a:xfrm>
            <a:off x="6441956" y="1566272"/>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Rectangle 25"/>
          <p:cNvSpPr/>
          <p:nvPr userDrawn="1"/>
        </p:nvSpPr>
        <p:spPr>
          <a:xfrm>
            <a:off x="10117078" y="149580"/>
            <a:ext cx="2073156" cy="7736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C8CF8120-5D43-445C-81DE-BB63D27CD451}"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76395-65C6-40C6-B0F2-3F72B3156A66}" type="slidenum">
              <a:rPr lang="en-US" smtClean="0"/>
              <a:t>‹#›</a:t>
            </a:fld>
            <a:endParaRPr lang="en-US"/>
          </a:p>
        </p:txBody>
      </p:sp>
      <p:grpSp>
        <p:nvGrpSpPr>
          <p:cNvPr id="23" name="Group 22"/>
          <p:cNvGrpSpPr/>
          <p:nvPr userDrawn="1"/>
        </p:nvGrpSpPr>
        <p:grpSpPr>
          <a:xfrm>
            <a:off x="1505874" y="802630"/>
            <a:ext cx="9144477" cy="77100"/>
            <a:chOff x="1457173" y="851529"/>
            <a:chExt cx="9144477" cy="77100"/>
          </a:xfrm>
        </p:grpSpPr>
        <p:sp>
          <p:nvSpPr>
            <p:cNvPr id="10" name="Google Shape;26;p4"/>
            <p:cNvSpPr/>
            <p:nvPr userDrawn="1"/>
          </p:nvSpPr>
          <p:spPr>
            <a:xfrm>
              <a:off x="7180456" y="851529"/>
              <a:ext cx="17103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7;p4"/>
            <p:cNvSpPr/>
            <p:nvPr userDrawn="1"/>
          </p:nvSpPr>
          <p:spPr>
            <a:xfrm>
              <a:off x="8891350" y="851529"/>
              <a:ext cx="1710300" cy="77100"/>
            </a:xfrm>
            <a:prstGeom prst="rect">
              <a:avLst/>
            </a:prstGeom>
            <a:solidFill>
              <a:srgbClr val="6505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8;p4"/>
            <p:cNvSpPr/>
            <p:nvPr userDrawn="1"/>
          </p:nvSpPr>
          <p:spPr>
            <a:xfrm>
              <a:off x="1457173" y="851529"/>
              <a:ext cx="17103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9;p4"/>
            <p:cNvSpPr/>
            <p:nvPr userDrawn="1"/>
          </p:nvSpPr>
          <p:spPr>
            <a:xfrm>
              <a:off x="3167598" y="851529"/>
              <a:ext cx="17103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Rectangle 13"/>
          <p:cNvSpPr/>
          <p:nvPr userDrawn="1"/>
        </p:nvSpPr>
        <p:spPr>
          <a:xfrm>
            <a:off x="-1" y="6303003"/>
            <a:ext cx="12195979" cy="55499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userDrawn="1"/>
        </p:nvGrpSpPr>
        <p:grpSpPr>
          <a:xfrm>
            <a:off x="679568" y="6365200"/>
            <a:ext cx="10820163" cy="487908"/>
            <a:chOff x="528814" y="6238068"/>
            <a:chExt cx="10820163" cy="487908"/>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7" name="Straight Connector 16"/>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userDrawn="1"/>
          </p:nvGrpSpPr>
          <p:grpSpPr>
            <a:xfrm>
              <a:off x="7802880" y="6286832"/>
              <a:ext cx="3546097" cy="230832"/>
              <a:chOff x="7802880" y="6286832"/>
              <a:chExt cx="3546097" cy="230832"/>
            </a:xfrm>
          </p:grpSpPr>
          <p:sp>
            <p:nvSpPr>
              <p:cNvPr id="19" name="TextBox 18"/>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0" name="Rectangle 19"/>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66177" y="-2847804"/>
            <a:ext cx="4423402" cy="4423402"/>
          </a:xfrm>
          <a:prstGeom prst="rect">
            <a:avLst/>
          </a:prstGeom>
          <a:blipFill>
            <a:blip r:embed="rId4">
              <a:alphaModFix amt="0"/>
            </a:blip>
            <a:stretch>
              <a:fillRect/>
            </a:stretch>
          </a:blipFill>
        </p:spPr>
      </p:pic>
      <p:sp>
        <p:nvSpPr>
          <p:cNvPr id="25" name="Rectangle 24"/>
          <p:cNvSpPr/>
          <p:nvPr userDrawn="1"/>
        </p:nvSpPr>
        <p:spPr>
          <a:xfrm>
            <a:off x="0" y="-2537827"/>
            <a:ext cx="12195978" cy="253782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6" name="Rectangle 5"/>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1897258" y="6701970"/>
            <a:ext cx="6345708"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242966" y="6701970"/>
            <a:ext cx="1874112"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10117078"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p:cNvSpPr>
            <a:spLocks noGrp="1"/>
          </p:cNvSpPr>
          <p:nvPr>
            <p:ph idx="1"/>
          </p:nvPr>
        </p:nvSpPr>
        <p:spPr>
          <a:xfrm>
            <a:off x="10518045" y="0"/>
            <a:ext cx="1672189" cy="6858000"/>
          </a:xfrm>
        </p:spPr>
        <p:txBody>
          <a:bodyPr/>
          <a:lstStyle>
            <a:lvl1pPr marL="0" indent="0">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endParaRPr lang="en-US" dirty="0"/>
          </a:p>
        </p:txBody>
      </p:sp>
      <p:sp>
        <p:nvSpPr>
          <p:cNvPr id="11" name="Title 1"/>
          <p:cNvSpPr>
            <a:spLocks noGrp="1"/>
          </p:cNvSpPr>
          <p:nvPr>
            <p:ph type="title"/>
          </p:nvPr>
        </p:nvSpPr>
        <p:spPr>
          <a:xfrm>
            <a:off x="410748" y="673352"/>
            <a:ext cx="9794348" cy="779930"/>
          </a:xfrm>
        </p:spPr>
        <p:txBody>
          <a:bodyPr anchor="b">
            <a:normAutofit/>
          </a:bodyPr>
          <a:lstStyle>
            <a:lvl1pPr>
              <a:defRPr sz="3600" b="1">
                <a:solidFill>
                  <a:srgbClr val="0A688E"/>
                </a:solidFill>
              </a:defRPr>
            </a:lvl1pPr>
          </a:lstStyle>
          <a:p>
            <a:r>
              <a:rPr lang="en-US" dirty="0"/>
              <a:t>Click to edit Master title style</a:t>
            </a:r>
          </a:p>
        </p:txBody>
      </p:sp>
      <p:sp>
        <p:nvSpPr>
          <p:cNvPr id="12" name="Text Placeholder 3"/>
          <p:cNvSpPr>
            <a:spLocks noGrp="1"/>
          </p:cNvSpPr>
          <p:nvPr>
            <p:ph type="body" sz="half" idx="2"/>
          </p:nvPr>
        </p:nvSpPr>
        <p:spPr>
          <a:xfrm>
            <a:off x="410748" y="1662545"/>
            <a:ext cx="9794348" cy="4611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p:cNvSpPr>
            <a:spLocks noGrp="1"/>
          </p:cNvSpPr>
          <p:nvPr>
            <p:ph sz="half" idx="13"/>
          </p:nvPr>
        </p:nvSpPr>
        <p:spPr>
          <a:xfrm>
            <a:off x="0" y="0"/>
            <a:ext cx="12192000" cy="6701970"/>
          </a:xfrm>
        </p:spPr>
        <p:txBody>
          <a:bodyPr/>
          <a:lstStyle>
            <a:lvl1pPr marL="0" indent="0">
              <a:buNone/>
              <a:defRPr/>
            </a:lvl1pPr>
          </a:lstStyle>
          <a:p>
            <a:pPr lvl="0"/>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9" name="Rectangle 8"/>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2"/>
          <p:cNvSpPr>
            <a:spLocks noGrp="1"/>
          </p:cNvSpPr>
          <p:nvPr>
            <p:ph type="pic" idx="1"/>
          </p:nvPr>
        </p:nvSpPr>
        <p:spPr>
          <a:xfrm>
            <a:off x="6038952" y="0"/>
            <a:ext cx="6153048" cy="67019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7" name="Text Placeholder 3"/>
          <p:cNvSpPr>
            <a:spLocks noGrp="1"/>
          </p:cNvSpPr>
          <p:nvPr>
            <p:ph type="body" sz="half" idx="2"/>
          </p:nvPr>
        </p:nvSpPr>
        <p:spPr>
          <a:xfrm>
            <a:off x="839788" y="1445190"/>
            <a:ext cx="447234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p:cNvSpPr/>
          <p:nvPr userDrawn="1"/>
        </p:nvSpPr>
        <p:spPr>
          <a:xfrm>
            <a:off x="-1" y="-1"/>
            <a:ext cx="12195979" cy="5111931"/>
          </a:xfrm>
          <a:prstGeom prst="rect">
            <a:avLst/>
          </a:prstGeom>
          <a:solidFill>
            <a:srgbClr val="0E8C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a:off x="0" y="4958297"/>
            <a:ext cx="12195979" cy="153634"/>
            <a:chOff x="0" y="6701970"/>
            <a:chExt cx="12918820" cy="153590"/>
          </a:xfrm>
        </p:grpSpPr>
        <p:sp>
          <p:nvSpPr>
            <p:cNvPr id="9" name="Rectangle 8"/>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63564" y="5569074"/>
            <a:ext cx="856176" cy="856176"/>
          </a:xfrm>
          <a:prstGeom prst="rect">
            <a:avLst/>
          </a:prstGeom>
          <a:blipFill>
            <a:blip r:embed="rId3">
              <a:alphaModFix amt="0"/>
            </a:blip>
            <a:stretch>
              <a:fillRect/>
            </a:stretch>
          </a:blip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Vertical Text">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838200" y="6356350"/>
            <a:ext cx="2743200" cy="365125"/>
          </a:xfrm>
        </p:spPr>
        <p:txBody>
          <a:bodyPr/>
          <a:lstStyle/>
          <a:p>
            <a:fld id="{C8CF8120-5D43-445C-81DE-BB63D27CD451}" type="datetimeFigureOut">
              <a:rPr lang="en-US" smtClean="0"/>
              <a:t>9/26/2025</a:t>
            </a:fld>
            <a:endParaRPr lang="en-US"/>
          </a:p>
        </p:txBody>
      </p:sp>
      <p:sp>
        <p:nvSpPr>
          <p:cNvPr id="8" name="Footer Placeholder 7"/>
          <p:cNvSpPr>
            <a:spLocks noGrp="1"/>
          </p:cNvSpPr>
          <p:nvPr>
            <p:ph type="ftr" sz="quarter" idx="11"/>
          </p:nvPr>
        </p:nvSpPr>
        <p:spPr>
          <a:xfrm>
            <a:off x="4038600" y="6356350"/>
            <a:ext cx="4114800" cy="365125"/>
          </a:xfrm>
        </p:spPr>
        <p:txBody>
          <a:bodyPr/>
          <a:lstStyle/>
          <a:p>
            <a:endParaRPr lang="en-US"/>
          </a:p>
        </p:txBody>
      </p:sp>
      <p:sp>
        <p:nvSpPr>
          <p:cNvPr id="9" name="Slide Number Placeholder 8"/>
          <p:cNvSpPr>
            <a:spLocks noGrp="1"/>
          </p:cNvSpPr>
          <p:nvPr>
            <p:ph type="sldNum" sz="quarter" idx="12"/>
          </p:nvPr>
        </p:nvSpPr>
        <p:spPr>
          <a:xfrm>
            <a:off x="8610600" y="6356350"/>
            <a:ext cx="2743200" cy="365125"/>
          </a:xfrm>
        </p:spPr>
        <p:txBody>
          <a:bodyPr/>
          <a:lstStyle/>
          <a:p>
            <a:fld id="{C6A76395-65C6-40C6-B0F2-3F72B3156A66}" type="slidenum">
              <a:rPr lang="en-US" smtClean="0"/>
              <a:t>‹#›</a:t>
            </a:fld>
            <a:endParaRPr lang="en-US"/>
          </a:p>
        </p:txBody>
      </p:sp>
      <p:grpSp>
        <p:nvGrpSpPr>
          <p:cNvPr id="10" name="Group 9"/>
          <p:cNvGrpSpPr/>
          <p:nvPr userDrawn="1"/>
        </p:nvGrpSpPr>
        <p:grpSpPr>
          <a:xfrm>
            <a:off x="1505874" y="1478705"/>
            <a:ext cx="9144477" cy="77100"/>
            <a:chOff x="1457173" y="851529"/>
            <a:chExt cx="9144477" cy="77100"/>
          </a:xfrm>
        </p:grpSpPr>
        <p:sp>
          <p:nvSpPr>
            <p:cNvPr id="11" name="Google Shape;26;p4"/>
            <p:cNvSpPr/>
            <p:nvPr userDrawn="1"/>
          </p:nvSpPr>
          <p:spPr>
            <a:xfrm>
              <a:off x="7180456" y="851529"/>
              <a:ext cx="17103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7;p4"/>
            <p:cNvSpPr/>
            <p:nvPr userDrawn="1"/>
          </p:nvSpPr>
          <p:spPr>
            <a:xfrm>
              <a:off x="8891350" y="851529"/>
              <a:ext cx="1710300" cy="77100"/>
            </a:xfrm>
            <a:prstGeom prst="rect">
              <a:avLst/>
            </a:prstGeom>
            <a:solidFill>
              <a:srgbClr val="6505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8;p4"/>
            <p:cNvSpPr/>
            <p:nvPr userDrawn="1"/>
          </p:nvSpPr>
          <p:spPr>
            <a:xfrm>
              <a:off x="1457173" y="851529"/>
              <a:ext cx="17103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p4"/>
            <p:cNvSpPr/>
            <p:nvPr userDrawn="1"/>
          </p:nvSpPr>
          <p:spPr>
            <a:xfrm>
              <a:off x="3167598" y="851529"/>
              <a:ext cx="17103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Rectangle 14"/>
          <p:cNvSpPr/>
          <p:nvPr userDrawn="1"/>
        </p:nvSpPr>
        <p:spPr>
          <a:xfrm>
            <a:off x="-39753" y="6303003"/>
            <a:ext cx="12235732" cy="7240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userDrawn="1"/>
        </p:nvGrpSpPr>
        <p:grpSpPr>
          <a:xfrm>
            <a:off x="679568" y="6365200"/>
            <a:ext cx="10820163" cy="487908"/>
            <a:chOff x="528814" y="6238068"/>
            <a:chExt cx="10820163" cy="487908"/>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814" y="6238068"/>
              <a:ext cx="1925885" cy="487908"/>
            </a:xfrm>
            <a:prstGeom prst="rect">
              <a:avLst/>
            </a:prstGeom>
          </p:spPr>
        </p:pic>
        <p:cxnSp>
          <p:nvCxnSpPr>
            <p:cNvPr id="18" name="Straight Connector 17"/>
            <p:cNvCxnSpPr/>
            <p:nvPr userDrawn="1"/>
          </p:nvCxnSpPr>
          <p:spPr>
            <a:xfrm>
              <a:off x="901337" y="6598143"/>
              <a:ext cx="103719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userDrawn="1"/>
          </p:nvGrpSpPr>
          <p:grpSpPr>
            <a:xfrm>
              <a:off x="7802880" y="6286832"/>
              <a:ext cx="3546097" cy="230832"/>
              <a:chOff x="7802880" y="6286832"/>
              <a:chExt cx="3546097" cy="230832"/>
            </a:xfrm>
          </p:grpSpPr>
          <p:sp>
            <p:nvSpPr>
              <p:cNvPr id="20" name="TextBox 19"/>
              <p:cNvSpPr txBox="1"/>
              <p:nvPr userDrawn="1"/>
            </p:nvSpPr>
            <p:spPr>
              <a:xfrm>
                <a:off x="7802880" y="6286832"/>
                <a:ext cx="3546097" cy="230832"/>
              </a:xfrm>
              <a:prstGeom prst="rect">
                <a:avLst/>
              </a:prstGeom>
              <a:noFill/>
            </p:spPr>
            <p:txBody>
              <a:bodyPr wrap="square" rtlCol="0">
                <a:spAutoFit/>
              </a:bodyPr>
              <a:lstStyle/>
              <a:p>
                <a:pPr algn="r"/>
                <a:r>
                  <a:rPr lang="en-US" sz="900" dirty="0">
                    <a:solidFill>
                      <a:schemeClr val="bg1"/>
                    </a:solidFill>
                    <a:latin typeface="+mj-lt"/>
                  </a:rPr>
                  <a:t>KNOWLEDGE             INTEGRITY            IMPACT</a:t>
                </a:r>
              </a:p>
            </p:txBody>
          </p:sp>
          <p:sp>
            <p:nvSpPr>
              <p:cNvPr id="21" name="Rectangle 20"/>
              <p:cNvSpPr/>
              <p:nvPr userDrawn="1"/>
            </p:nvSpPr>
            <p:spPr>
              <a:xfrm>
                <a:off x="8609870"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9748239"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10668414" y="6345642"/>
                <a:ext cx="111034" cy="113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TextBox 24"/>
          <p:cNvSpPr txBox="1"/>
          <p:nvPr userDrawn="1"/>
        </p:nvSpPr>
        <p:spPr>
          <a:xfrm>
            <a:off x="5378631" y="1165756"/>
            <a:ext cx="1398494" cy="2215991"/>
          </a:xfrm>
          <a:prstGeom prst="rect">
            <a:avLst/>
          </a:prstGeom>
          <a:noFill/>
        </p:spPr>
        <p:txBody>
          <a:bodyPr wrap="square" rtlCol="0">
            <a:spAutoFit/>
          </a:bodyPr>
          <a:lstStyle/>
          <a:p>
            <a:pPr algn="ctr"/>
            <a:r>
              <a:rPr lang="en-US" sz="13800" b="1" dirty="0">
                <a:solidFill>
                  <a:schemeClr val="accent1">
                    <a:lumMod val="50000"/>
                  </a:schemeClr>
                </a:solidFill>
              </a:rPr>
              <a:t>“</a:t>
            </a:r>
            <a:endParaRPr lang="en-US" sz="23900" b="1" dirty="0">
              <a:solidFill>
                <a:schemeClr val="accent1">
                  <a:lumMod val="50000"/>
                </a:schemeClr>
              </a:solidFill>
            </a:endParaRPr>
          </a:p>
        </p:txBody>
      </p:sp>
      <p:sp>
        <p:nvSpPr>
          <p:cNvPr id="26" name="TextBox 25"/>
          <p:cNvSpPr txBox="1"/>
          <p:nvPr userDrawn="1"/>
        </p:nvSpPr>
        <p:spPr>
          <a:xfrm>
            <a:off x="5378631" y="4469044"/>
            <a:ext cx="1398494" cy="2215991"/>
          </a:xfrm>
          <a:prstGeom prst="rect">
            <a:avLst/>
          </a:prstGeom>
          <a:noFill/>
        </p:spPr>
        <p:txBody>
          <a:bodyPr wrap="square" rtlCol="0">
            <a:spAutoFit/>
          </a:bodyPr>
          <a:lstStyle/>
          <a:p>
            <a:pPr algn="ctr"/>
            <a:r>
              <a:rPr lang="en-US" sz="13800" b="1" dirty="0">
                <a:solidFill>
                  <a:schemeClr val="accent1">
                    <a:lumMod val="50000"/>
                  </a:schemeClr>
                </a:solidFill>
              </a:rPr>
              <a:t>“</a:t>
            </a:r>
            <a:endParaRPr lang="en-US" sz="23900" b="1" dirty="0">
              <a:solidFill>
                <a:schemeClr val="accent1">
                  <a:lumMod val="50000"/>
                </a:scheme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sp>
        <p:nvSpPr>
          <p:cNvPr id="7" name="Content Placeholder 2"/>
          <p:cNvSpPr>
            <a:spLocks noGrp="1"/>
          </p:cNvSpPr>
          <p:nvPr>
            <p:ph sz="half" idx="1"/>
          </p:nvPr>
        </p:nvSpPr>
        <p:spPr>
          <a:xfrm>
            <a:off x="715954" y="3378881"/>
            <a:ext cx="5181600" cy="3174409"/>
          </a:xfrm>
        </p:spPr>
        <p:txBody>
          <a:bodyPr/>
          <a:lstStyle>
            <a:lvl1pPr marL="0" indent="0">
              <a:buNone/>
              <a:defRPr/>
            </a:lvl1pPr>
          </a:lstStyle>
          <a:p>
            <a:pPr lvl="0"/>
            <a:endParaRPr lang="en-US" dirty="0"/>
          </a:p>
        </p:txBody>
      </p:sp>
      <p:sp>
        <p:nvSpPr>
          <p:cNvPr id="9" name="Content Placeholder 2"/>
          <p:cNvSpPr>
            <a:spLocks noGrp="1"/>
          </p:cNvSpPr>
          <p:nvPr>
            <p:ph sz="half" idx="13"/>
          </p:nvPr>
        </p:nvSpPr>
        <p:spPr>
          <a:xfrm>
            <a:off x="6319710" y="3378881"/>
            <a:ext cx="5181600" cy="3174409"/>
          </a:xfrm>
        </p:spPr>
        <p:txBody>
          <a:bodyPr/>
          <a:lstStyle>
            <a:lvl1pPr marL="0" indent="0">
              <a:buNone/>
              <a:defRPr/>
            </a:lvl1pPr>
          </a:lstStyle>
          <a:p>
            <a:pPr lvl="0"/>
            <a:endParaRPr lang="en-US" dirty="0"/>
          </a:p>
        </p:txBody>
      </p:sp>
      <p:grpSp>
        <p:nvGrpSpPr>
          <p:cNvPr id="14" name="Group 13"/>
          <p:cNvGrpSpPr/>
          <p:nvPr userDrawn="1"/>
        </p:nvGrpSpPr>
        <p:grpSpPr>
          <a:xfrm>
            <a:off x="0" y="6704366"/>
            <a:ext cx="12195979" cy="153634"/>
            <a:chOff x="0" y="6701970"/>
            <a:chExt cx="12918820" cy="153590"/>
          </a:xfrm>
        </p:grpSpPr>
        <p:sp>
          <p:nvSpPr>
            <p:cNvPr id="15" name="Rectangle 1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Vertical Title and Text">
    <p:spTree>
      <p:nvGrpSpPr>
        <p:cNvPr id="1" name=""/>
        <p:cNvGrpSpPr/>
        <p:nvPr/>
      </p:nvGrpSpPr>
      <p:grpSpPr>
        <a:xfrm>
          <a:off x="0" y="0"/>
          <a:ext cx="0" cy="0"/>
          <a:chOff x="0" y="0"/>
          <a:chExt cx="0" cy="0"/>
        </a:xfrm>
      </p:grpSpPr>
      <p:sp>
        <p:nvSpPr>
          <p:cNvPr id="2" name="Rectangle 1"/>
          <p:cNvSpPr/>
          <p:nvPr userDrawn="1"/>
        </p:nvSpPr>
        <p:spPr>
          <a:xfrm>
            <a:off x="0" y="0"/>
            <a:ext cx="12192000" cy="67019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userDrawn="1"/>
        </p:nvGrpSpPr>
        <p:grpSpPr>
          <a:xfrm>
            <a:off x="0" y="6704366"/>
            <a:ext cx="12195979" cy="153634"/>
            <a:chOff x="0" y="6701970"/>
            <a:chExt cx="12918820" cy="153590"/>
          </a:xfrm>
        </p:grpSpPr>
        <p:sp>
          <p:nvSpPr>
            <p:cNvPr id="15" name="Rectangle 14"/>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50" y="5979818"/>
            <a:ext cx="722152" cy="722152"/>
          </a:xfrm>
          <a:prstGeom prst="rect">
            <a:avLst/>
          </a:prstGeom>
          <a:blipFill>
            <a:blip r:embed="rId3">
              <a:alphaModFix amt="0"/>
            </a:blip>
            <a:stretch>
              <a:fillRect/>
            </a:stretch>
          </a:blipFill>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Vertical Title and Text">
    <p:spTree>
      <p:nvGrpSpPr>
        <p:cNvPr id="1" name=""/>
        <p:cNvGrpSpPr/>
        <p:nvPr/>
      </p:nvGrpSpPr>
      <p:grpSpPr>
        <a:xfrm>
          <a:off x="0" y="0"/>
          <a:ext cx="0" cy="0"/>
          <a:chOff x="0" y="0"/>
          <a:chExt cx="0" cy="0"/>
        </a:xfrm>
      </p:grpSpPr>
      <p:sp>
        <p:nvSpPr>
          <p:cNvPr id="7" name="Rectangle 6"/>
          <p:cNvSpPr/>
          <p:nvPr userDrawn="1"/>
        </p:nvSpPr>
        <p:spPr>
          <a:xfrm>
            <a:off x="0" y="-56710"/>
            <a:ext cx="12192000" cy="6748131"/>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8" name="Google Shape;356;p34"/>
          <p:cNvSpPr txBox="1"/>
          <p:nvPr userDrawn="1"/>
        </p:nvSpPr>
        <p:spPr>
          <a:xfrm>
            <a:off x="1135765" y="2427304"/>
            <a:ext cx="5561100" cy="11598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11500" dirty="0">
                <a:solidFill>
                  <a:schemeClr val="bg1"/>
                </a:solidFill>
              </a:rPr>
              <a:t>Thanks!</a:t>
            </a:r>
          </a:p>
        </p:txBody>
      </p:sp>
      <p:sp>
        <p:nvSpPr>
          <p:cNvPr id="9" name="Google Shape;357;p34"/>
          <p:cNvSpPr txBox="1"/>
          <p:nvPr userDrawn="1"/>
        </p:nvSpPr>
        <p:spPr>
          <a:xfrm>
            <a:off x="1135765" y="3455423"/>
            <a:ext cx="5561100" cy="7848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600"/>
              </a:spcBef>
              <a:buFont typeface="Arial" panose="020B0604020202090204" pitchFamily="34" charset="0"/>
              <a:buNone/>
            </a:pPr>
            <a:r>
              <a:rPr lang="en-US" sz="4800" b="1">
                <a:solidFill>
                  <a:schemeClr val="lt1"/>
                </a:solidFill>
              </a:rPr>
              <a:t>Any questions?</a:t>
            </a:r>
          </a:p>
        </p:txBody>
      </p:sp>
      <p:grpSp>
        <p:nvGrpSpPr>
          <p:cNvPr id="10" name="Group 9"/>
          <p:cNvGrpSpPr/>
          <p:nvPr userDrawn="1"/>
        </p:nvGrpSpPr>
        <p:grpSpPr>
          <a:xfrm>
            <a:off x="0" y="6704366"/>
            <a:ext cx="12195979" cy="153634"/>
            <a:chOff x="0" y="6701970"/>
            <a:chExt cx="12918820" cy="153590"/>
          </a:xfrm>
        </p:grpSpPr>
        <p:sp>
          <p:nvSpPr>
            <p:cNvPr id="11" name="Rectangle 10"/>
            <p:cNvSpPr/>
            <p:nvPr userDrawn="1"/>
          </p:nvSpPr>
          <p:spPr>
            <a:xfrm>
              <a:off x="0" y="6701970"/>
              <a:ext cx="1897258" cy="153590"/>
            </a:xfrm>
            <a:prstGeom prst="rect">
              <a:avLst/>
            </a:prstGeom>
            <a:solidFill>
              <a:srgbClr val="3F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897257" y="6701970"/>
              <a:ext cx="7535243" cy="153590"/>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432500" y="6701970"/>
              <a:ext cx="1413164" cy="1535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0845664" y="6701970"/>
              <a:ext cx="2073156" cy="15359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p:cNvSpPr/>
          <p:nvPr userDrawn="1"/>
        </p:nvSpPr>
        <p:spPr>
          <a:xfrm>
            <a:off x="7180729" y="269109"/>
            <a:ext cx="6320118" cy="6333565"/>
          </a:xfrm>
          <a:prstGeom prst="rect">
            <a:avLst/>
          </a:prstGeom>
          <a:blipFill dpi="0" rotWithShape="1">
            <a:blip r:embed="rId2">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F8120-5D43-445C-81DE-BB63D27CD451}" type="datetimeFigureOut">
              <a:rPr lang="en-US" smtClean="0"/>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A76395-65C6-40C6-B0F2-3F72B3156A66}" type="slidenum">
              <a:rPr lang="en-US" smtClean="0"/>
              <a:t>‹#›</a:t>
            </a:fld>
            <a:endParaRPr lang="en-US"/>
          </a:p>
        </p:txBody>
      </p:sp>
      <p:sp>
        <p:nvSpPr>
          <p:cNvPr id="7" name="Rectangle 6"/>
          <p:cNvSpPr/>
          <p:nvPr userDrawn="1"/>
        </p:nvSpPr>
        <p:spPr>
          <a:xfrm>
            <a:off x="-39753" y="-51683"/>
            <a:ext cx="12235732" cy="6909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40890" y="483244"/>
            <a:ext cx="2684166" cy="680012"/>
          </a:xfrm>
          <a:prstGeom prst="rect">
            <a:avLst/>
          </a:prstGeom>
        </p:spPr>
      </p:pic>
      <p:sp>
        <p:nvSpPr>
          <p:cNvPr id="11" name="Rectangle 10"/>
          <p:cNvSpPr/>
          <p:nvPr userDrawn="1"/>
        </p:nvSpPr>
        <p:spPr>
          <a:xfrm>
            <a:off x="7180729" y="269109"/>
            <a:ext cx="6320118" cy="6333565"/>
          </a:xfrm>
          <a:prstGeom prst="rect">
            <a:avLst/>
          </a:prstGeom>
          <a:blipFill dpi="0" rotWithShape="1">
            <a:blip r:embed="rId16">
              <a:alphaModFix amt="6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0690" y="1540042"/>
            <a:ext cx="7500620" cy="1888323"/>
          </a:xfrm>
          <a:prstGeom prst="rect">
            <a:avLst/>
          </a:prstGeom>
          <a:noFill/>
        </p:spPr>
        <p:txBody>
          <a:bodyPr wrap="square" rtlCol="0">
            <a:noAutofit/>
          </a:bodyPr>
          <a:lstStyle/>
          <a:p>
            <a:r>
              <a:rPr lang="en-US" sz="2400" b="1" dirty="0">
                <a:solidFill>
                  <a:schemeClr val="bg1"/>
                </a:solidFill>
                <a:latin typeface="Times New Roman" panose="02020503050405090304" pitchFamily="18" charset="0"/>
                <a:cs typeface="Times New Roman" panose="02020503050405090304" pitchFamily="18" charset="0"/>
              </a:rPr>
              <a:t>A MACHINE LEARNING AND GIS BASED APPROACH FOR SPATIAL PREDICTION OF SOIL FERTILITY IN SUNYANI</a:t>
            </a:r>
          </a:p>
        </p:txBody>
      </p:sp>
      <p:sp>
        <p:nvSpPr>
          <p:cNvPr id="5" name="TextBox 4"/>
          <p:cNvSpPr txBox="1"/>
          <p:nvPr/>
        </p:nvSpPr>
        <p:spPr>
          <a:xfrm>
            <a:off x="186690" y="3288030"/>
            <a:ext cx="8263255" cy="1781810"/>
          </a:xfrm>
          <a:prstGeom prst="rect">
            <a:avLst/>
          </a:prstGeom>
          <a:noFill/>
        </p:spPr>
        <p:txBody>
          <a:bodyPr wrap="square" rtlCol="0">
            <a:noAutofit/>
          </a:bodyPr>
          <a:lstStyle/>
          <a:p>
            <a:r>
              <a:rPr lang="en-US" sz="2800" b="0" dirty="0">
                <a:solidFill>
                  <a:schemeClr val="bg1"/>
                </a:solidFill>
                <a:latin typeface="Times New Roman" panose="02020503050405090304" pitchFamily="18" charset="0"/>
                <a:cs typeface="Times New Roman" panose="02020503050405090304" pitchFamily="18" charset="0"/>
              </a:rPr>
              <a:t>BY: IDDRISS ISSAH KAAMIL         UEB3507621</a:t>
            </a:r>
          </a:p>
          <a:p>
            <a:r>
              <a:rPr lang="en-US" sz="2800" b="0" dirty="0">
                <a:solidFill>
                  <a:schemeClr val="bg1"/>
                </a:solidFill>
                <a:latin typeface="Times New Roman" panose="02020503050405090304" pitchFamily="18" charset="0"/>
                <a:cs typeface="Times New Roman" panose="02020503050405090304" pitchFamily="18" charset="0"/>
              </a:rPr>
              <a:t>      SEIDU ABDUL-BASIT                UEB3504221</a:t>
            </a:r>
          </a:p>
          <a:p>
            <a:r>
              <a:rPr lang="en-US" sz="2800" b="0" dirty="0">
                <a:solidFill>
                  <a:schemeClr val="bg1"/>
                </a:solidFill>
                <a:latin typeface="Times New Roman" panose="02020503050405090304" pitchFamily="18" charset="0"/>
                <a:cs typeface="Times New Roman" panose="02020503050405090304" pitchFamily="18" charset="0"/>
              </a:rPr>
              <a:t>    WILLIAMS P.K AUGUSTUS         UEB3509321</a:t>
            </a:r>
          </a:p>
        </p:txBody>
      </p:sp>
      <p:sp>
        <p:nvSpPr>
          <p:cNvPr id="6" name="TextBox 5"/>
          <p:cNvSpPr txBox="1"/>
          <p:nvPr/>
        </p:nvSpPr>
        <p:spPr>
          <a:xfrm>
            <a:off x="440890" y="6114523"/>
            <a:ext cx="7500395" cy="246221"/>
          </a:xfrm>
          <a:prstGeom prst="rect">
            <a:avLst/>
          </a:prstGeom>
          <a:noFill/>
        </p:spPr>
        <p:txBody>
          <a:bodyPr wrap="square" rtlCol="0">
            <a:spAutoFit/>
          </a:bodyPr>
          <a:lstStyle/>
          <a:p>
            <a:r>
              <a:rPr lang="en-US" sz="1000" b="0" dirty="0">
                <a:solidFill>
                  <a:schemeClr val="bg1"/>
                </a:solidFill>
                <a:latin typeface="Times New Roman" panose="02020503050405090304" pitchFamily="18" charset="0"/>
                <a:cs typeface="Times New Roman" panose="02020503050405090304" pitchFamily="18" charset="0"/>
              </a:rPr>
              <a:t>Tuesday September 15, 2021</a:t>
            </a:r>
          </a:p>
        </p:txBody>
      </p:sp>
      <p:sp>
        <p:nvSpPr>
          <p:cNvPr id="2" name="Text Box 1"/>
          <p:cNvSpPr txBox="1"/>
          <p:nvPr/>
        </p:nvSpPr>
        <p:spPr>
          <a:xfrm>
            <a:off x="186055" y="4933950"/>
            <a:ext cx="7096760" cy="1181100"/>
          </a:xfrm>
          <a:prstGeom prst="rect">
            <a:avLst/>
          </a:prstGeom>
          <a:noFill/>
        </p:spPr>
        <p:txBody>
          <a:bodyPr wrap="square" rtlCol="0">
            <a:noAutofit/>
          </a:bodyPr>
          <a:lstStyle/>
          <a:p>
            <a:r>
              <a:rPr lang="en-US" sz="2800">
                <a:solidFill>
                  <a:schemeClr val="bg1"/>
                </a:solidFill>
                <a:latin typeface="Times New Roman" panose="02020503050405090304" pitchFamily="18" charset="0"/>
                <a:cs typeface="Times New Roman" panose="02020503050405090304" pitchFamily="18" charset="0"/>
              </a:rPr>
              <a:t>SUPERVISED BY:</a:t>
            </a:r>
          </a:p>
          <a:p>
            <a:r>
              <a:rPr lang="en-US" sz="2800">
                <a:solidFill>
                  <a:schemeClr val="bg1"/>
                </a:solidFill>
                <a:latin typeface="Times New Roman" panose="02020503050405090304" pitchFamily="18" charset="0"/>
                <a:cs typeface="Times New Roman" panose="02020503050405090304" pitchFamily="18" charset="0"/>
              </a:rPr>
              <a:t>                        Dr. OBED APPIAH</a:t>
            </a:r>
          </a:p>
        </p:txBody>
      </p:sp>
      <p:sp>
        <p:nvSpPr>
          <p:cNvPr id="3" name="Text Box 2"/>
          <p:cNvSpPr txBox="1"/>
          <p:nvPr/>
        </p:nvSpPr>
        <p:spPr>
          <a:xfrm>
            <a:off x="440690" y="1059815"/>
            <a:ext cx="7499985" cy="622300"/>
          </a:xfrm>
          <a:prstGeom prst="rect">
            <a:avLst/>
          </a:prstGeom>
          <a:noFill/>
        </p:spPr>
        <p:txBody>
          <a:bodyPr wrap="square" rtlCol="0">
            <a:noAutofit/>
          </a:bodyPr>
          <a:lstStyle/>
          <a:p>
            <a:r>
              <a:rPr lang="en-US" sz="2000">
                <a:solidFill>
                  <a:schemeClr val="bg1"/>
                </a:solidFill>
                <a:latin typeface="Times New Roman" panose="02020503050405090304" pitchFamily="18" charset="0"/>
                <a:cs typeface="Times New Roman" panose="02020503050405090304" pitchFamily="18" charset="0"/>
              </a:rPr>
              <a:t>DEPARTMENT OF COMPUTER SCIENCE AND INFORMATICS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5660571" y="1273175"/>
            <a:ext cx="6531429" cy="6402705"/>
          </a:xfrm>
        </p:spPr>
        <p:txBody>
          <a:bodyPr>
            <a:noAutofit/>
          </a:bodyPr>
          <a:lstStyle/>
          <a:p>
            <a:pPr marL="0" lvl="0" indent="0" algn="l" rtl="0">
              <a:lnSpc>
                <a:spcPct val="90000"/>
              </a:lnSpc>
              <a:spcBef>
                <a:spcPts val="0"/>
              </a:spcBef>
              <a:spcAft>
                <a:spcPts val="0"/>
              </a:spcAft>
              <a:buNone/>
            </a:pPr>
            <a:r>
              <a:rPr lang="en-US" sz="2400" dirty="0">
                <a:solidFill>
                  <a:srgbClr val="000000"/>
                </a:solidFill>
                <a:latin typeface="Times New Roman" panose="02020503050405090304" pitchFamily="18" charset="0"/>
                <a:ea typeface="Century Gothic"/>
                <a:cs typeface="Times New Roman" panose="02020503050405090304" pitchFamily="18" charset="0"/>
                <a:sym typeface="Century Gothic"/>
              </a:rPr>
              <a:t>Table of Contents</a:t>
            </a:r>
            <a:endParaRPr sz="2400" b="1" dirty="0">
              <a:solidFill>
                <a:srgbClr val="000000"/>
              </a:solidFill>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solidFill>
                  <a:schemeClr val="dk1"/>
                </a:solidFill>
                <a:latin typeface="Times New Roman" panose="02020503050405090304" pitchFamily="18" charset="0"/>
                <a:ea typeface="Century Gothic"/>
                <a:cs typeface="Times New Roman" panose="02020503050405090304" pitchFamily="18" charset="0"/>
                <a:sym typeface="Century Gothic"/>
              </a:rPr>
              <a:t>Introduction</a:t>
            </a:r>
            <a:endParaRPr dirty="0">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Problem Statement</a:t>
            </a:r>
            <a:endParaRPr dirty="0">
              <a:solidFill>
                <a:srgbClr val="000000"/>
              </a:solidFill>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solidFill>
                  <a:schemeClr val="dk1"/>
                </a:solidFill>
                <a:latin typeface="Times New Roman" panose="02020503050405090304" pitchFamily="18" charset="0"/>
                <a:ea typeface="Century Gothic"/>
                <a:cs typeface="Times New Roman" panose="02020503050405090304" pitchFamily="18" charset="0"/>
                <a:sym typeface="Century Gothic"/>
              </a:rPr>
              <a:t>Objective of the study</a:t>
            </a:r>
            <a:endParaRPr dirty="0">
              <a:solidFill>
                <a:srgbClr val="000000"/>
              </a:solidFill>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Significance of the study</a:t>
            </a:r>
            <a:endParaRPr dirty="0">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Literature Review</a:t>
            </a:r>
            <a:endParaRPr dirty="0">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solidFill>
                  <a:srgbClr val="000000"/>
                </a:solidFill>
                <a:latin typeface="Times New Roman" panose="02020503050405090304" pitchFamily="18" charset="0"/>
                <a:ea typeface="Century Gothic"/>
                <a:cs typeface="Times New Roman" panose="02020503050405090304" pitchFamily="18" charset="0"/>
                <a:sym typeface="Century Gothic"/>
              </a:rPr>
              <a:t>Methodology</a:t>
            </a:r>
            <a:endParaRPr dirty="0">
              <a:solidFill>
                <a:srgbClr val="000000"/>
              </a:solidFill>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Implementation, Results &amp; Discussion</a:t>
            </a:r>
            <a:endParaRPr dirty="0">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Conclusion</a:t>
            </a:r>
            <a:endParaRPr dirty="0">
              <a:latin typeface="Times New Roman" panose="02020503050405090304" pitchFamily="18" charset="0"/>
              <a:ea typeface="Century Gothic"/>
              <a:cs typeface="Times New Roman" panose="02020503050405090304" pitchFamily="18" charset="0"/>
              <a:sym typeface="Century Gothic"/>
            </a:endParaRPr>
          </a:p>
          <a:p>
            <a:pPr marL="800100" lvl="1" indent="-342900" algn="l" rtl="0">
              <a:lnSpc>
                <a:spcPct val="90000"/>
              </a:lnSpc>
              <a:spcBef>
                <a:spcPts val="500"/>
              </a:spcBef>
              <a:spcAft>
                <a:spcPts val="0"/>
              </a:spcAft>
              <a:buClr>
                <a:srgbClr val="000000"/>
              </a:buClr>
              <a:buSzPts val="2400"/>
              <a:buFont typeface="Noto Sans Symbols"/>
              <a:buChar char="▪"/>
            </a:pPr>
            <a:r>
              <a:rPr lang="en-US" dirty="0">
                <a:latin typeface="Times New Roman" panose="02020503050405090304" pitchFamily="18" charset="0"/>
                <a:ea typeface="Century Gothic"/>
                <a:cs typeface="Times New Roman" panose="02020503050405090304" pitchFamily="18" charset="0"/>
                <a:sym typeface="Century Gothic"/>
              </a:rPr>
              <a:t>References</a:t>
            </a:r>
            <a:endParaRPr dirty="0">
              <a:solidFill>
                <a:srgbClr val="000000"/>
              </a:solidFill>
              <a:latin typeface="Times New Roman" panose="02020503050405090304" pitchFamily="18" charset="0"/>
              <a:ea typeface="Century Gothic"/>
              <a:cs typeface="Times New Roman" panose="02020503050405090304" pitchFamily="18" charset="0"/>
              <a:sym typeface="Century Gothic"/>
            </a:endParaRPr>
          </a:p>
          <a:p>
            <a:endParaRPr lang="en-US" sz="2400" dirty="0">
              <a:solidFill>
                <a:srgbClr val="000000"/>
              </a:solidFill>
              <a:latin typeface="Times New Roman" panose="02020503050405090304" pitchFamily="18" charset="0"/>
              <a:ea typeface="Century Gothic"/>
              <a:cs typeface="Times New Roman" panose="02020503050405090304" pitchFamily="18" charset="0"/>
              <a:sym typeface="Century Gothic"/>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4460" y="1996440"/>
            <a:ext cx="5389880" cy="3210560"/>
          </a:xfrm>
        </p:spPr>
      </p:pic>
      <p:sp>
        <p:nvSpPr>
          <p:cNvPr id="6" name="TextBox 5"/>
          <p:cNvSpPr txBox="1"/>
          <p:nvPr/>
        </p:nvSpPr>
        <p:spPr>
          <a:xfrm>
            <a:off x="2908663" y="3923211"/>
            <a:ext cx="2751908" cy="369332"/>
          </a:xfrm>
          <a:prstGeom prst="rect">
            <a:avLst/>
          </a:prstGeom>
          <a:noFill/>
        </p:spPr>
        <p:txBody>
          <a:bodyPr wrap="square" rtlCol="0">
            <a:spAutoFit/>
          </a:bodyPr>
          <a:lstStyle/>
          <a:p>
            <a:r>
              <a:rPr lang="en-US" dirty="0">
                <a:solidFill>
                  <a:schemeClr val="bg1"/>
                </a:solidFill>
              </a:rPr>
              <a:t>IMPORT IMAGE HERE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7950" y="1348105"/>
            <a:ext cx="11988800" cy="4951730"/>
          </a:xfrm>
        </p:spPr>
        <p:txBody>
          <a:bodyPr>
            <a:noAutofit/>
          </a:bodyPr>
          <a:lstStyle/>
          <a:p>
            <a:pPr algn="just">
              <a:lnSpc>
                <a:spcPct val="200000"/>
              </a:lnSpc>
            </a:pPr>
            <a:r>
              <a:rPr lang="en-US" altLang="en-US" sz="2000" dirty="0">
                <a:solidFill>
                  <a:schemeClr val="tx1">
                    <a:lumMod val="95000"/>
                    <a:lumOff val="5000"/>
                  </a:schemeClr>
                </a:solidFill>
                <a:latin typeface="Times New Roman" panose="02020503050405090304" pitchFamily="18" charset="0"/>
                <a:cs typeface="Times New Roman" panose="02020503050405090304" pitchFamily="18" charset="0"/>
              </a:rPr>
              <a:t>Soil fertility is a critical factor in sustaining crop productivity and meeting food demands of the worlds growing population. Soil Fertility Index (SFI) provides a scientific pathway for assessing and mapping the health of agricultural soils (Nketiah, 2011). This study is conducted to investigate the performance of an integrated ML with GIS framework for predicting soil fertility, narrowing the focus on soil nutrient contributions, environmental influences such as NDVI and DEM , the combined effect of soil and environmental features and the development of a predictive algorithm to generate reliable fertility scores and classifications for sustainable land management.</a:t>
            </a:r>
          </a:p>
          <a:p>
            <a:pPr algn="just">
              <a:lnSpc>
                <a:spcPct val="200000"/>
              </a:lnSpc>
            </a:pPr>
            <a:endParaRPr lang="en-US" altLang="en-US" sz="2000" dirty="0">
              <a:solidFill>
                <a:schemeClr val="tx1">
                  <a:lumMod val="95000"/>
                  <a:lumOff val="5000"/>
                </a:schemeClr>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SOIL FERTILITY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PROBLEM STATEMENT</a:t>
            </a:r>
          </a:p>
        </p:txBody>
      </p:sp>
      <p:sp>
        <p:nvSpPr>
          <p:cNvPr id="4" name="Text Placeholder 1"/>
          <p:cNvSpPr txBox="1"/>
          <p:nvPr/>
        </p:nvSpPr>
        <p:spPr>
          <a:xfrm>
            <a:off x="120015" y="1323340"/>
            <a:ext cx="11901805" cy="4989195"/>
          </a:xfrm>
          <a:prstGeom prst="rect">
            <a:avLst/>
          </a:prstGeom>
        </p:spPr>
        <p:txBody>
          <a:bodyPr vert="horz" lIns="91440" tIns="45720" rIns="91440" bIns="45720" rtlCol="0">
            <a:normAutofit fontScale="97500"/>
          </a:bodyPr>
          <a:lstStyle>
            <a:lvl1pPr marL="0" indent="0" algn="l" defTabSz="914400" rtl="0" eaLnBrk="1" latinLnBrk="0" hangingPunct="1">
              <a:lnSpc>
                <a:spcPct val="90000"/>
              </a:lnSpc>
              <a:spcBef>
                <a:spcPts val="1000"/>
              </a:spcBef>
              <a:buFont typeface="Arial" panose="020B060402020209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514350" indent="-514350">
              <a:lnSpc>
                <a:spcPct val="150000"/>
              </a:lnSpc>
              <a:buAutoNum type="arabicPeriod"/>
            </a:pPr>
            <a:r>
              <a:rPr lang="en-US" altLang="en-US" sz="2800" dirty="0">
                <a:solidFill>
                  <a:schemeClr val="accent5">
                    <a:lumMod val="50000"/>
                  </a:schemeClr>
                </a:solidFill>
                <a:latin typeface="Times New Roman" panose="02020503050405090304" pitchFamily="18" charset="0"/>
                <a:cs typeface="Times New Roman" panose="02020503050405090304" pitchFamily="18" charset="0"/>
              </a:rPr>
              <a:t>Most soil fertility assessment methods rely on laboratory testing, which is costly, slow, and unable to capture spatial variability across farms (Nketiah, 2011).</a:t>
            </a:r>
          </a:p>
          <a:p>
            <a:pPr marL="514350" indent="-514350">
              <a:lnSpc>
                <a:spcPct val="150000"/>
              </a:lnSpc>
              <a:buAutoNum type="arabicPeriod"/>
            </a:pPr>
            <a:r>
              <a:rPr lang="en-US" altLang="en-US" sz="2800" dirty="0">
                <a:solidFill>
                  <a:schemeClr val="accent5">
                    <a:lumMod val="50000"/>
                  </a:schemeClr>
                </a:solidFill>
                <a:latin typeface="Times New Roman" panose="02020503050405090304" pitchFamily="18" charset="0"/>
                <a:cs typeface="Times New Roman" panose="02020503050405090304" pitchFamily="18" charset="0"/>
              </a:rPr>
              <a:t>GIS and ML based tools exist, but they often require expensive proprietary platforms, making them inaccessible to smallholder farmers (Lawrence, 2020).</a:t>
            </a:r>
          </a:p>
          <a:p>
            <a:pPr marL="514350" indent="-514350">
              <a:lnSpc>
                <a:spcPct val="150000"/>
              </a:lnSpc>
              <a:buAutoNum type="arabicPeriod"/>
            </a:pPr>
            <a:r>
              <a:rPr lang="en-US" altLang="en-US" sz="2800" dirty="0">
                <a:solidFill>
                  <a:schemeClr val="accent5">
                    <a:lumMod val="50000"/>
                  </a:schemeClr>
                </a:solidFill>
                <a:latin typeface="Times New Roman" panose="02020503050405090304" pitchFamily="18" charset="0"/>
                <a:cs typeface="Times New Roman" panose="02020503050405090304" pitchFamily="18" charset="0"/>
              </a:rPr>
              <a:t>Free and open-source frameworks are underutilized due to poor integration of diverse datasets such as soil samples, NDVI, and DEM, leading to inconsistent and non-actionable predictions.</a:t>
            </a:r>
            <a:endParaRPr lang="en-US" sz="2800" dirty="0">
              <a:solidFill>
                <a:schemeClr val="accent5">
                  <a:lumMod val="50000"/>
                </a:schemeClr>
              </a:solidFill>
              <a:latin typeface="Times New Roman" panose="02020503050405090304" pitchFamily="18" charset="0"/>
              <a:cs typeface="Times New Roman" panose="0202050305040509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73255" y="1328286"/>
            <a:ext cx="11752445" cy="4860758"/>
          </a:xfrm>
        </p:spPr>
        <p:txBody>
          <a:bodyPr>
            <a:normAutofit/>
          </a:bodyPr>
          <a:lstStyle/>
          <a:p>
            <a:pPr algn="just">
              <a:lnSpc>
                <a:spcPct val="150000"/>
              </a:lnSpc>
            </a:pPr>
            <a:r>
              <a:rPr lang="en-US" b="1" dirty="0">
                <a:solidFill>
                  <a:schemeClr val="tx1"/>
                </a:solidFill>
                <a:latin typeface="Times New Roman" panose="02020503050405090304" pitchFamily="18" charset="0"/>
                <a:cs typeface="Times New Roman" panose="02020503050405090304" pitchFamily="18" charset="0"/>
              </a:rPr>
              <a:t>Main Objective</a:t>
            </a:r>
          </a:p>
          <a:p>
            <a:pPr algn="just">
              <a:lnSpc>
                <a:spcPct val="150000"/>
              </a:lnSpc>
            </a:pPr>
            <a:r>
              <a:rPr lang="en-US" altLang="en-US" dirty="0">
                <a:solidFill>
                  <a:schemeClr val="tx1"/>
                </a:solidFill>
                <a:latin typeface="Times New Roman" panose="02020503050405090304" pitchFamily="18" charset="0"/>
                <a:cs typeface="Times New Roman" panose="02020503050405090304" pitchFamily="18" charset="0"/>
              </a:rPr>
              <a:t>To develop a spatially referenced Soil Fertility Index (SFI) using Machine Learning and GIS technologies for effective assessment and prediction of soil fertility status in Sunyani, Ghana.</a:t>
            </a:r>
          </a:p>
          <a:p>
            <a:pPr algn="just">
              <a:lnSpc>
                <a:spcPct val="150000"/>
              </a:lnSpc>
            </a:pPr>
            <a:r>
              <a:rPr lang="en-US" altLang="en-US" b="1" dirty="0">
                <a:solidFill>
                  <a:schemeClr val="tx1"/>
                </a:solidFill>
                <a:latin typeface="Times New Roman" panose="02020503050405090304" pitchFamily="18" charset="0"/>
                <a:cs typeface="Times New Roman" panose="02020503050405090304" pitchFamily="18" charset="0"/>
              </a:rPr>
              <a:t>Specific Objectives</a:t>
            </a:r>
          </a:p>
          <a:p>
            <a:pPr marL="457200" lvl="0" indent="-457200">
              <a:lnSpc>
                <a:spcPct val="100000"/>
              </a:lnSpc>
              <a:buFont typeface="+mj-lt"/>
              <a:buAutoNum type="arabicPeriod"/>
            </a:pPr>
            <a:r>
              <a:rPr lang="en-GB" dirty="0">
                <a:solidFill>
                  <a:schemeClr val="tx1"/>
                </a:solidFill>
                <a:latin typeface="Times New Roman" panose="02020603050405020304" pitchFamily="18" charset="0"/>
                <a:cs typeface="Times New Roman" panose="02020603050405020304" pitchFamily="18" charset="0"/>
              </a:rPr>
              <a:t>To develop a model to predict how fertile the soil is.</a:t>
            </a:r>
            <a:endParaRPr lang="en-US" dirty="0">
              <a:solidFill>
                <a:schemeClr val="tx1"/>
              </a:solidFill>
              <a:latin typeface="Times New Roman" panose="02020603050405020304" pitchFamily="18" charset="0"/>
              <a:cs typeface="Times New Roman" panose="02020603050405020304" pitchFamily="18" charset="0"/>
            </a:endParaRPr>
          </a:p>
          <a:p>
            <a:pPr marL="457200" lvl="0" indent="-457200">
              <a:lnSpc>
                <a:spcPct val="100000"/>
              </a:lnSpc>
              <a:buFont typeface="+mj-lt"/>
              <a:buAutoNum type="arabicPeriod"/>
            </a:pPr>
            <a:r>
              <a:rPr lang="en-GB" dirty="0">
                <a:solidFill>
                  <a:schemeClr val="tx1"/>
                </a:solidFill>
                <a:latin typeface="Times New Roman" panose="02020603050405020304" pitchFamily="18" charset="0"/>
                <a:cs typeface="Times New Roman" panose="02020603050405020304" pitchFamily="18" charset="0"/>
              </a:rPr>
              <a:t> To apply machine learning algorithms for modelling the relationship between soil properties and environmental factors.</a:t>
            </a:r>
            <a:endParaRPr lang="en-US" dirty="0">
              <a:solidFill>
                <a:schemeClr val="tx1"/>
              </a:solidFill>
              <a:latin typeface="Times New Roman" panose="02020603050405020304" pitchFamily="18" charset="0"/>
              <a:cs typeface="Times New Roman" panose="02020603050405020304" pitchFamily="18" charset="0"/>
            </a:endParaRPr>
          </a:p>
          <a:p>
            <a:pPr marL="457200" lvl="0" indent="-457200">
              <a:lnSpc>
                <a:spcPct val="100000"/>
              </a:lnSpc>
              <a:buFont typeface="+mj-lt"/>
              <a:buAutoNum type="arabicPeriod"/>
            </a:pPr>
            <a:r>
              <a:rPr lang="en-GB" dirty="0">
                <a:solidFill>
                  <a:schemeClr val="tx1"/>
                </a:solidFill>
                <a:latin typeface="Times New Roman" panose="02020603050405020304" pitchFamily="18" charset="0"/>
                <a:cs typeface="Times New Roman" panose="02020603050405020304" pitchFamily="18" charset="0"/>
              </a:rPr>
              <a:t>To deploy the model on a web app.</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pPr>
            <a:endParaRPr lang="en-US" altLang="en-US"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normAutofit/>
          </a:bodyPr>
          <a:lstStyle/>
          <a:p>
            <a:r>
              <a:rPr lang="en-US" dirty="0">
                <a:latin typeface="Times New Roman" panose="02020503050405090304" pitchFamily="18" charset="0"/>
                <a:cs typeface="Times New Roman" panose="02020503050405090304" pitchFamily="18" charset="0"/>
              </a:rPr>
              <a:t>OBJECTIVE OF THE STUDY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9580" y="1437338"/>
            <a:ext cx="11950499" cy="4732456"/>
          </a:xfrm>
        </p:spPr>
        <p:txBody>
          <a:bodyPr numCol="2"/>
          <a:lstStyle/>
          <a:p>
            <a:pPr algn="just">
              <a:lnSpc>
                <a:spcPct val="100000"/>
              </a:lnSpc>
            </a:pPr>
            <a:r>
              <a:rPr lang="en-US" dirty="0">
                <a:solidFill>
                  <a:schemeClr val="tx1"/>
                </a:solidFill>
                <a:latin typeface="Times New Roman" panose="02020503050405090304" pitchFamily="18" charset="0"/>
                <a:cs typeface="Times New Roman" panose="02020503050405090304" pitchFamily="18" charset="0"/>
              </a:rPr>
              <a:t>The SFI system was developed using an Agile Scrum approach, with iterative sprints and continuous feedback loops. Each sprint focused on a specific task such as data preparation, machine learning integration, backend development, or GIS visualization. Regular feedback and testing at every stage ensured that the system evolved in a flexible, user-centered way, improving accuracy and usability over time</a:t>
            </a:r>
          </a:p>
          <a:p>
            <a:pPr algn="just"/>
            <a:endParaRPr lang="en-US" dirty="0">
              <a:solidFill>
                <a:schemeClr val="tx1"/>
              </a:solidFill>
              <a:latin typeface="Times New Roman" panose="02020503050405090304" pitchFamily="18" charset="0"/>
              <a:cs typeface="Times New Roman" panose="02020503050405090304" pitchFamily="18" charset="0"/>
            </a:endParaRPr>
          </a:p>
          <a:p>
            <a:pPr algn="just"/>
            <a:endParaRPr lang="en-US" dirty="0">
              <a:solidFill>
                <a:schemeClr val="tx1"/>
              </a:solidFill>
              <a:latin typeface="Times New Roman" panose="02020503050405090304" pitchFamily="18" charset="0"/>
              <a:cs typeface="Times New Roman" panose="02020503050405090304" pitchFamily="18" charset="0"/>
            </a:endParaRPr>
          </a:p>
          <a:p>
            <a:pPr algn="just"/>
            <a:endParaRPr lang="en-US"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METHODOLOGY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5440" y="1437338"/>
            <a:ext cx="4934639" cy="4582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467350" y="1496695"/>
            <a:ext cx="6410325" cy="4592955"/>
          </a:xfrm>
        </p:spPr>
        <p:txBody>
          <a:bodyPr>
            <a:normAutofit fontScale="77500" lnSpcReduction="10000"/>
          </a:bodyPr>
          <a:lstStyle/>
          <a:p>
            <a:r>
              <a:rPr lang="en-US" altLang="en-US" dirty="0">
                <a:solidFill>
                  <a:schemeClr val="tx1"/>
                </a:solidFill>
                <a:latin typeface="Times New Roman Regular" panose="02020503050405090304" charset="0"/>
                <a:cs typeface="Times New Roman Regular" panose="02020503050405090304" charset="0"/>
              </a:rPr>
              <a:t> The diagram illustrates a three-layer system architecture for soil fertility analysis and recommendation delivery:</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Presentation Layer (Frontend) – The user enters their live location through an interface built with HTML, CSS, and LEAFLET.js for interactive map visualization.</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Application Layer (Backend + Machine Learning) – The location data is processed in Flask (Python), where a Random Forest model analyzes the soil fertility for that location.</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Data Layer (Database + GIS) – Soil, raster (NDVI, DEM), and spatial data are stored in SQLite, Rasterio, and GeoPandas, respectively. The system retrieves fertility data and recommendations for the user’s location.</a:t>
            </a: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SYSTEM ARCHITECTURE</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926" y="1432649"/>
            <a:ext cx="5362223" cy="48389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63830" y="1383514"/>
            <a:ext cx="12028170" cy="5073519"/>
          </a:xfrm>
        </p:spPr>
        <p:txBody>
          <a:bodyPr numCol="2">
            <a:noAutofit/>
          </a:bodyPr>
          <a:lstStyle/>
          <a:p>
            <a:pPr>
              <a:lnSpc>
                <a:spcPct val="100000"/>
              </a:lnSpc>
            </a:pPr>
            <a:r>
              <a:rPr lang="en-US" sz="2000" dirty="0">
                <a:solidFill>
                  <a:schemeClr val="tx1"/>
                </a:solidFill>
                <a:latin typeface="Times New Roman" panose="02020503050405090304" pitchFamily="18" charset="0"/>
                <a:cs typeface="Times New Roman" panose="02020503050405090304" pitchFamily="18" charset="0"/>
              </a:rPr>
              <a:t>The diagram shows how user input is transformed input is used to fetch the fertility analysis and recommendations for improvement.</a:t>
            </a: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marL="457200" indent="-457200">
              <a:lnSpc>
                <a:spcPct val="100000"/>
              </a:lnSpc>
              <a:buFont typeface="+mj-lt"/>
              <a:buAutoNum type="arabicPeriod"/>
            </a:pPr>
            <a:r>
              <a:rPr lang="en-US" sz="2000" dirty="0">
                <a:solidFill>
                  <a:schemeClr val="tx1"/>
                </a:solidFill>
                <a:latin typeface="Times New Roman" panose="02020503050405090304" pitchFamily="18" charset="0"/>
                <a:cs typeface="Times New Roman" panose="02020503050405090304" pitchFamily="18" charset="0"/>
              </a:rPr>
              <a:t>User enters live location</a:t>
            </a:r>
          </a:p>
          <a:p>
            <a:pPr marL="457200" indent="-457200">
              <a:lnSpc>
                <a:spcPct val="100000"/>
              </a:lnSpc>
              <a:buFont typeface="+mj-lt"/>
              <a:buAutoNum type="arabicPeriod"/>
            </a:pPr>
            <a:r>
              <a:rPr lang="en-US" sz="2000" dirty="0">
                <a:solidFill>
                  <a:schemeClr val="tx1"/>
                </a:solidFill>
                <a:latin typeface="Times New Roman" panose="02020503050405090304" pitchFamily="18" charset="0"/>
                <a:cs typeface="Times New Roman" panose="02020503050405090304" pitchFamily="18" charset="0"/>
              </a:rPr>
              <a:t>The data of the location is sent into the backend.</a:t>
            </a:r>
          </a:p>
          <a:p>
            <a:pPr marL="457200" indent="-457200">
              <a:lnSpc>
                <a:spcPct val="100000"/>
              </a:lnSpc>
              <a:buFont typeface="+mj-lt"/>
              <a:buAutoNum type="arabicPeriod"/>
            </a:pPr>
            <a:r>
              <a:rPr lang="en-US" sz="2000" dirty="0">
                <a:solidFill>
                  <a:schemeClr val="tx1"/>
                </a:solidFill>
                <a:latin typeface="Times New Roman" panose="02020503050405090304" pitchFamily="18" charset="0"/>
                <a:cs typeface="Times New Roman" panose="02020503050405090304" pitchFamily="18" charset="0"/>
              </a:rPr>
              <a:t>The backend matches user’s live location to the fertility of the soil of that location.</a:t>
            </a:r>
          </a:p>
          <a:p>
            <a:pPr marL="457200" indent="-457200">
              <a:lnSpc>
                <a:spcPct val="100000"/>
              </a:lnSpc>
              <a:buFont typeface="+mj-lt"/>
              <a:buAutoNum type="arabicPeriod"/>
            </a:pPr>
            <a:r>
              <a:rPr lang="en-US" sz="2000" dirty="0">
                <a:solidFill>
                  <a:schemeClr val="tx1"/>
                </a:solidFill>
                <a:latin typeface="Times New Roman" panose="02020503050405090304" pitchFamily="18" charset="0"/>
                <a:cs typeface="Times New Roman" panose="02020503050405090304" pitchFamily="18" charset="0"/>
              </a:rPr>
              <a:t>The backend retrieves the fertility analysis along with the recommendations for the soil and sent back to the user. </a:t>
            </a:r>
          </a:p>
          <a:p>
            <a:pPr>
              <a:lnSpc>
                <a:spcPct val="100000"/>
              </a:lnSpc>
            </a:pPr>
            <a:r>
              <a:rPr lang="en-US" sz="2000" dirty="0">
                <a:solidFill>
                  <a:schemeClr val="tx1"/>
                </a:solidFill>
                <a:latin typeface="Times New Roman" panose="02020503050405090304" pitchFamily="18" charset="0"/>
                <a:cs typeface="Times New Roman" panose="02020503050405090304" pitchFamily="18" charset="0"/>
              </a:rPr>
              <a:t>                       </a:t>
            </a: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endParaRPr lang="en-US" sz="2000" dirty="0">
              <a:solidFill>
                <a:schemeClr val="tx1"/>
              </a:solidFill>
              <a:latin typeface="Times New Roman" panose="02020503050405090304" pitchFamily="18" charset="0"/>
              <a:cs typeface="Times New Roman" panose="02020503050405090304" pitchFamily="18" charset="0"/>
            </a:endParaRPr>
          </a:p>
          <a:p>
            <a:pPr>
              <a:lnSpc>
                <a:spcPct val="100000"/>
              </a:lnSpc>
            </a:pPr>
            <a:r>
              <a:rPr lang="en-US" sz="2000" dirty="0">
                <a:solidFill>
                  <a:schemeClr val="tx1"/>
                </a:solidFill>
                <a:latin typeface="Times New Roman" panose="02020503050405090304" pitchFamily="18" charset="0"/>
                <a:cs typeface="Times New Roman" panose="02020503050405090304" pitchFamily="18" charset="0"/>
              </a:rPr>
              <a:t>                              Data Flow Diagram</a:t>
            </a:r>
          </a:p>
          <a:p>
            <a:pPr>
              <a:lnSpc>
                <a:spcPct val="150000"/>
              </a:lnSpc>
            </a:pPr>
            <a:r>
              <a:rPr lang="en-US" sz="2000" dirty="0">
                <a:solidFill>
                  <a:schemeClr val="tx1"/>
                </a:solidFill>
                <a:latin typeface="Times New Roman" panose="02020503050405090304" pitchFamily="18" charset="0"/>
                <a:cs typeface="Times New Roman" panose="02020503050405090304" pitchFamily="18" charset="0"/>
              </a:rPr>
              <a:t>     </a:t>
            </a:r>
          </a:p>
          <a:p>
            <a:pPr>
              <a:lnSpc>
                <a:spcPct val="150000"/>
              </a:lnSpc>
            </a:pPr>
            <a:endParaRPr lang="en-US" sz="1800"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normAutofit/>
          </a:bodyPr>
          <a:lstStyle/>
          <a:p>
            <a:r>
              <a:rPr lang="en-US" dirty="0">
                <a:latin typeface="Times New Roman" panose="02020503050405090304" pitchFamily="18" charset="0"/>
                <a:cs typeface="Times New Roman" panose="02020503050405090304" pitchFamily="18" charset="0"/>
              </a:rPr>
              <a:t>DATA FLOW DIAGRAM</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1651" y="1383514"/>
            <a:ext cx="5231765" cy="45878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CONCEPTUAL FLOW DIAGRAM</a:t>
            </a:r>
          </a:p>
        </p:txBody>
      </p:sp>
      <p:pic>
        <p:nvPicPr>
          <p:cNvPr id="4" name="Picture 3" descr="Blank diagram"/>
          <p:cNvPicPr>
            <a:picLocks noChangeAspect="1"/>
          </p:cNvPicPr>
          <p:nvPr/>
        </p:nvPicPr>
        <p:blipFill>
          <a:blip r:embed="rId2"/>
          <a:stretch>
            <a:fillRect/>
          </a:stretch>
        </p:blipFill>
        <p:spPr>
          <a:xfrm>
            <a:off x="274320" y="1350010"/>
            <a:ext cx="11609070" cy="5027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246797" y="1357162"/>
            <a:ext cx="5861784" cy="4732489"/>
          </a:xfrm>
        </p:spPr>
        <p:txBody>
          <a:bodyPr>
            <a:noAutofit/>
          </a:bodyPr>
          <a:lstStyle/>
          <a:p>
            <a:pPr>
              <a:lnSpc>
                <a:spcPct val="100000"/>
              </a:lnSpc>
            </a:pPr>
            <a:r>
              <a:rPr lang="en-US" sz="2800" dirty="0">
                <a:solidFill>
                  <a:schemeClr val="tx1"/>
                </a:solidFill>
                <a:latin typeface="Times New Roman" panose="02020503050405090304" pitchFamily="18" charset="0"/>
                <a:cs typeface="Times New Roman" panose="02020503050405090304" pitchFamily="18" charset="0"/>
              </a:rPr>
              <a:t>The training graph shows that the Random Forest model learned the patterns in the data very well. Most predicted fertility scores are close to the actual values, meaning the model captured the relationship between soil properties and fertility with little error. The close clustering along the line also shows the model is stable and not overfitting.</a:t>
            </a: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IMPLEMENTATION AND RESULTS</a:t>
            </a:r>
          </a:p>
        </p:txBody>
      </p:sp>
      <p:pic>
        <p:nvPicPr>
          <p:cNvPr id="4" name="Picture 3" descr="rf_training_graph"/>
          <p:cNvPicPr>
            <a:picLocks noChangeAspect="1"/>
          </p:cNvPicPr>
          <p:nvPr/>
        </p:nvPicPr>
        <p:blipFill>
          <a:blip r:embed="rId2"/>
          <a:stretch>
            <a:fillRect/>
          </a:stretch>
        </p:blipFill>
        <p:spPr>
          <a:xfrm>
            <a:off x="83420" y="1357163"/>
            <a:ext cx="5662862" cy="4812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948413" y="1472665"/>
            <a:ext cx="6054289" cy="4616986"/>
          </a:xfrm>
        </p:spPr>
        <p:txBody>
          <a:bodyPr>
            <a:normAutofit/>
          </a:bodyPr>
          <a:lstStyle/>
          <a:p>
            <a:r>
              <a:rPr lang="en-US" sz="3200" dirty="0">
                <a:solidFill>
                  <a:schemeClr val="tx1"/>
                </a:solidFill>
                <a:latin typeface="Times New Roman" panose="02020503050405090304" pitchFamily="18" charset="0"/>
                <a:cs typeface="Times New Roman" panose="02020503050405090304" pitchFamily="18" charset="0"/>
              </a:rPr>
              <a:t>The testing graph shows how well the model performs on new data. The Random Forest predictions are close to the actual fertility scores, with only small deviations. This means the model captures the main patterns well and can be trusted for real-world soil fertility prediction in Sunyani.</a:t>
            </a: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IMPLEMENTATION AND RESULTS</a:t>
            </a:r>
          </a:p>
        </p:txBody>
      </p:sp>
      <p:pic>
        <p:nvPicPr>
          <p:cNvPr id="4" name="Picture 3" descr="regression_predictions"/>
          <p:cNvPicPr>
            <a:picLocks noChangeAspect="1"/>
          </p:cNvPicPr>
          <p:nvPr/>
        </p:nvPicPr>
        <p:blipFill>
          <a:blip r:embed="rId2"/>
          <a:stretch>
            <a:fillRect/>
          </a:stretch>
        </p:blipFill>
        <p:spPr>
          <a:xfrm>
            <a:off x="1" y="1407695"/>
            <a:ext cx="5829702" cy="48776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938787" y="1310004"/>
            <a:ext cx="5408663" cy="4770022"/>
          </a:xfrm>
        </p:spPr>
        <p:txBody>
          <a:bodyPr>
            <a:normAutofit fontScale="92500"/>
          </a:bodyPr>
          <a:lstStyle/>
          <a:p>
            <a:pPr algn="just">
              <a:lnSpc>
                <a:spcPct val="100000"/>
              </a:lnSpc>
            </a:pPr>
            <a:r>
              <a:rPr lang="en-GB" sz="3000" b="1" dirty="0">
                <a:solidFill>
                  <a:schemeClr val="tx1"/>
                </a:solidFill>
                <a:latin typeface="Times New Roman" panose="02020503050405090304" pitchFamily="18" charset="0"/>
                <a:cs typeface="Times New Roman" panose="02020503050405090304" pitchFamily="18" charset="0"/>
              </a:rPr>
              <a:t>Training Performance: </a:t>
            </a:r>
            <a:r>
              <a:rPr lang="en-GB" sz="3000" dirty="0">
                <a:solidFill>
                  <a:schemeClr val="tx1"/>
                </a:solidFill>
                <a:latin typeface="Times New Roman" panose="02020503050405090304" pitchFamily="18" charset="0"/>
                <a:cs typeface="Times New Roman" panose="02020503050405090304" pitchFamily="18" charset="0"/>
              </a:rPr>
              <a:t>The model achieves near-zero training MSE across all dataset sizes, indicating excellent fit to training data.</a:t>
            </a:r>
            <a:endParaRPr lang="en-US" sz="3000" dirty="0">
              <a:solidFill>
                <a:schemeClr val="tx1"/>
              </a:solidFill>
              <a:latin typeface="Times New Roman" panose="02020503050405090304" pitchFamily="18" charset="0"/>
              <a:cs typeface="Times New Roman" panose="02020503050405090304" pitchFamily="18" charset="0"/>
            </a:endParaRPr>
          </a:p>
          <a:p>
            <a:pPr algn="just">
              <a:lnSpc>
                <a:spcPct val="100000"/>
              </a:lnSpc>
            </a:pPr>
            <a:r>
              <a:rPr lang="en-GB" sz="3000" b="1" dirty="0">
                <a:solidFill>
                  <a:schemeClr val="tx1"/>
                </a:solidFill>
                <a:latin typeface="Times New Roman" panose="02020503050405090304" pitchFamily="18" charset="0"/>
                <a:cs typeface="Times New Roman" panose="02020503050405090304" pitchFamily="18" charset="0"/>
              </a:rPr>
              <a:t>Validation Performance:</a:t>
            </a:r>
          </a:p>
          <a:p>
            <a:pPr algn="just">
              <a:lnSpc>
                <a:spcPct val="100000"/>
              </a:lnSpc>
            </a:pPr>
            <a:r>
              <a:rPr lang="en-GB" sz="3000" dirty="0">
                <a:solidFill>
                  <a:schemeClr val="tx1"/>
                </a:solidFill>
                <a:latin typeface="Times New Roman" panose="02020503050405090304" pitchFamily="18" charset="0"/>
                <a:cs typeface="Times New Roman" panose="02020503050405090304" pitchFamily="18" charset="0"/>
              </a:rPr>
              <a:t>Validation MSE decreases from 330 to approximately 10 as training size increases from 1 to 11 samples, demonstrating strong generalization improvement with additional data.</a:t>
            </a:r>
            <a:endParaRPr lang="en-US" sz="3000" dirty="0">
              <a:solidFill>
                <a:schemeClr val="tx1"/>
              </a:solidFill>
              <a:latin typeface="Times New Roman" panose="02020503050405090304" pitchFamily="18" charset="0"/>
              <a:cs typeface="Times New Roman" panose="02020503050405090304" pitchFamily="18" charset="0"/>
            </a:endParaRPr>
          </a:p>
          <a:p>
            <a:endParaRPr lang="en-US" dirty="0"/>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IMPLEMENTATION AND RESULTS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275"/>
          <a:stretch>
            <a:fillRect/>
          </a:stretch>
        </p:blipFill>
        <p:spPr bwMode="auto">
          <a:xfrm>
            <a:off x="0" y="1319629"/>
            <a:ext cx="5765533" cy="4936791"/>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latin typeface="Times New Roman" panose="02020503050405090304" pitchFamily="18" charset="0"/>
              <a:cs typeface="Times New Roman" panose="0202050305040509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10" y="1386461"/>
            <a:ext cx="5459996" cy="4767621"/>
          </a:xfrm>
          <a:prstGeom prst="rect">
            <a:avLst/>
          </a:prstGeom>
          <a:effectLst>
            <a:softEdge rad="0"/>
          </a:effectLst>
        </p:spPr>
      </p:pic>
      <p:sp>
        <p:nvSpPr>
          <p:cNvPr id="6" name="Rectangle 1"/>
          <p:cNvSpPr>
            <a:spLocks noGrp="1" noChangeArrowheads="1"/>
          </p:cNvSpPr>
          <p:nvPr>
            <p:ph type="body" idx="1"/>
          </p:nvPr>
        </p:nvSpPr>
        <p:spPr bwMode="auto">
          <a:xfrm>
            <a:off x="5841999" y="1311553"/>
            <a:ext cx="6092591" cy="738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2600"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R² Score:</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Random Forest explains more of the variation in fertility scores, both in training and validation, than Linear Regression.</a:t>
            </a:r>
          </a:p>
          <a:p>
            <a:pPr marL="0" marR="0" lvl="0" indent="0" algn="l" defTabSz="914400" rtl="0" eaLnBrk="0" fontAlgn="base" latinLnBrk="0" hangingPunct="0">
              <a:lnSpc>
                <a:spcPct val="100000"/>
              </a:lnSpc>
              <a:spcBef>
                <a:spcPct val="0"/>
              </a:spcBef>
              <a:spcAft>
                <a:spcPct val="0"/>
              </a:spcAft>
              <a:buClrTx/>
              <a:buSzTx/>
            </a:pPr>
            <a:r>
              <a:rPr kumimoji="0" lang="en-US" altLang="en-US" sz="2600"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Error (RMSE &amp; MAE):</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Random Forest makes smaller errors, meaning its predictions are closer to the actual values.</a:t>
            </a:r>
          </a:p>
          <a:p>
            <a:pPr marL="0" marR="0" lvl="0" indent="0" algn="l" defTabSz="914400" rtl="0" eaLnBrk="0" fontAlgn="base" latinLnBrk="0" hangingPunct="0">
              <a:lnSpc>
                <a:spcPct val="100000"/>
              </a:lnSpc>
              <a:spcBef>
                <a:spcPct val="0"/>
              </a:spcBef>
              <a:spcAft>
                <a:spcPct val="0"/>
              </a:spcAft>
              <a:buClrTx/>
              <a:buSzTx/>
            </a:pPr>
            <a:r>
              <a:rPr kumimoji="0" lang="en-US" altLang="en-US" sz="2600"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Cross-Validation Range:</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Random Forest performs more consistently across different data splits.</a:t>
            </a:r>
          </a:p>
          <a:p>
            <a:pPr marL="0" marR="0" lvl="0" indent="0" algn="l" defTabSz="914400" rtl="0" eaLnBrk="0" fontAlgn="base" latinLnBrk="0" hangingPunct="0">
              <a:lnSpc>
                <a:spcPct val="100000"/>
              </a:lnSpc>
              <a:spcBef>
                <a:spcPct val="0"/>
              </a:spcBef>
              <a:spcAft>
                <a:spcPct val="0"/>
              </a:spcAft>
              <a:buClrTx/>
              <a:buSzTx/>
            </a:pPr>
            <a:r>
              <a:rPr kumimoji="0" lang="en-US" altLang="en-US" sz="2600"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Stability:</a:t>
            </a:r>
            <a:r>
              <a:rPr kumimoji="0" lang="en-US" altLang="en-US" sz="26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Random Forest is more stable and reliable, with less variation in results.</a:t>
            </a:r>
          </a:p>
          <a:p>
            <a:pPr marL="0" marR="0" lvl="0" indent="0" algn="l" defTabSz="914400" rtl="0" eaLnBrk="0" fontAlgn="base" latinLnBrk="0" hangingPunct="0">
              <a:lnSpc>
                <a:spcPct val="100000"/>
              </a:lnSpc>
              <a:spcBef>
                <a:spcPct val="0"/>
              </a:spcBef>
              <a:spcAft>
                <a:spcPct val="0"/>
              </a:spcAft>
              <a:buClrTx/>
              <a:buSzTx/>
            </a:pPr>
            <a:endParaRPr lang="en-US" altLang="en-US" sz="1800" dirty="0">
              <a:solidFill>
                <a:schemeClr val="tx1"/>
              </a:solidFill>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800" dirty="0">
              <a:solidFill>
                <a:schemeClr val="tx1"/>
              </a:solidFill>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800" dirty="0">
              <a:solidFill>
                <a:schemeClr val="tx1"/>
              </a:solidFill>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800" dirty="0">
              <a:solidFill>
                <a:schemeClr val="tx1"/>
              </a:solidFill>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77001" y="1357162"/>
            <a:ext cx="11973827" cy="4732489"/>
          </a:xfrm>
        </p:spPr>
        <p:txBody>
          <a:bodyPr/>
          <a:lstStyle/>
          <a:p>
            <a:endParaRPr lang="en-US" dirty="0"/>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IMPLEMENTATIONS AND RESULTS </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 y="1357162"/>
            <a:ext cx="12192000" cy="51501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IMPLEMENTATIONS AND RESULTS </a:t>
            </a:r>
            <a:endParaRPr lang="en-US" dirty="0"/>
          </a:p>
        </p:txBody>
      </p:sp>
      <p:pic>
        <p:nvPicPr>
          <p:cNvPr id="5" name="Picture 4"/>
          <p:cNvPicPr>
            <a:picLocks noChangeAspect="1"/>
          </p:cNvPicPr>
          <p:nvPr/>
        </p:nvPicPr>
        <p:blipFill>
          <a:blip r:embed="rId2"/>
          <a:stretch>
            <a:fillRect/>
          </a:stretch>
        </p:blipFill>
        <p:spPr>
          <a:xfrm>
            <a:off x="6506571" y="1369969"/>
            <a:ext cx="5685429" cy="5037307"/>
          </a:xfrm>
          <a:prstGeom prst="rect">
            <a:avLst/>
          </a:prstGeom>
        </p:spPr>
      </p:pic>
      <p:pic>
        <p:nvPicPr>
          <p:cNvPr id="7" name="Picture 6"/>
          <p:cNvPicPr>
            <a:picLocks noChangeAspect="1"/>
          </p:cNvPicPr>
          <p:nvPr/>
        </p:nvPicPr>
        <p:blipFill>
          <a:blip r:embed="rId3"/>
          <a:stretch>
            <a:fillRect/>
          </a:stretch>
        </p:blipFill>
        <p:spPr>
          <a:xfrm>
            <a:off x="381005" y="1419726"/>
            <a:ext cx="5782372" cy="50373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5877" y="1434164"/>
            <a:ext cx="11848699" cy="4655487"/>
          </a:xfrm>
        </p:spPr>
        <p:txBody>
          <a:bodyPr>
            <a:normAutofit/>
          </a:bodyPr>
          <a:lstStyle/>
          <a:p>
            <a:r>
              <a:rPr lang="en-US" dirty="0">
                <a:solidFill>
                  <a:schemeClr val="tx1"/>
                </a:solidFill>
                <a:latin typeface="Times New Roman" panose="02020503050405090304" pitchFamily="18" charset="0"/>
                <a:cs typeface="Times New Roman" panose="02020503050405090304" pitchFamily="18" charset="0"/>
              </a:rPr>
              <a:t>Results</a:t>
            </a:r>
          </a:p>
          <a:p>
            <a:r>
              <a:rPr lang="en-US" dirty="0">
                <a:solidFill>
                  <a:schemeClr val="tx1"/>
                </a:solidFill>
                <a:latin typeface="Times New Roman" panose="02020503050405090304" pitchFamily="18" charset="0"/>
                <a:cs typeface="Times New Roman" panose="02020503050405090304" pitchFamily="18" charset="0"/>
              </a:rPr>
              <a:t>Model Accuracy:</a:t>
            </a:r>
          </a:p>
          <a:p>
            <a:pPr lvl="1"/>
            <a:r>
              <a:rPr lang="en-US" sz="2400" dirty="0">
                <a:solidFill>
                  <a:schemeClr val="tx1"/>
                </a:solidFill>
                <a:latin typeface="Times New Roman" panose="02020503050405090304" pitchFamily="18" charset="0"/>
                <a:cs typeface="Times New Roman" panose="02020503050405090304" pitchFamily="18" charset="0"/>
              </a:rPr>
              <a:t>Random Forest Regressor achieved an R² Score of 0.87 and low RMSE, indicating strong prediction accuracy.</a:t>
            </a:r>
          </a:p>
          <a:p>
            <a:r>
              <a:rPr lang="en-US" dirty="0">
                <a:solidFill>
                  <a:schemeClr val="tx1"/>
                </a:solidFill>
                <a:latin typeface="Times New Roman" panose="02020503050405090304" pitchFamily="18" charset="0"/>
                <a:cs typeface="Times New Roman" panose="02020503050405090304" pitchFamily="18" charset="0"/>
              </a:rPr>
              <a:t>System Output:</a:t>
            </a:r>
          </a:p>
          <a:p>
            <a:pPr lvl="1"/>
            <a:r>
              <a:rPr lang="en-US" sz="2400" dirty="0">
                <a:solidFill>
                  <a:schemeClr val="tx1"/>
                </a:solidFill>
                <a:latin typeface="Times New Roman" panose="02020503050405090304" pitchFamily="18" charset="0"/>
                <a:cs typeface="Times New Roman" panose="02020503050405090304" pitchFamily="18" charset="0"/>
              </a:rPr>
              <a:t>Generated Soil Fertility Index (SFI) maps showing categories: Excellent, Good, Average, Poor.</a:t>
            </a:r>
          </a:p>
          <a:p>
            <a:pPr lvl="1"/>
            <a:r>
              <a:rPr lang="en-US" sz="2400" dirty="0">
                <a:solidFill>
                  <a:schemeClr val="tx1"/>
                </a:solidFill>
                <a:latin typeface="Times New Roman" panose="02020503050405090304" pitchFamily="18" charset="0"/>
                <a:cs typeface="Times New Roman" panose="02020503050405090304" pitchFamily="18" charset="0"/>
              </a:rPr>
              <a:t>Fertility data exported in Excel &amp; Shapefile formats for further analysis.</a:t>
            </a:r>
          </a:p>
          <a:p>
            <a:r>
              <a:rPr lang="en-US" dirty="0">
                <a:solidFill>
                  <a:schemeClr val="tx1"/>
                </a:solidFill>
                <a:latin typeface="Times New Roman" panose="02020503050405090304" pitchFamily="18" charset="0"/>
                <a:cs typeface="Times New Roman" panose="02020503050405090304" pitchFamily="18" charset="0"/>
              </a:rPr>
              <a:t>Performance:</a:t>
            </a:r>
          </a:p>
          <a:p>
            <a:pPr lvl="1"/>
            <a:r>
              <a:rPr lang="en-US" sz="2400" dirty="0">
                <a:solidFill>
                  <a:schemeClr val="tx1"/>
                </a:solidFill>
                <a:latin typeface="Times New Roman" panose="02020503050405090304" pitchFamily="18" charset="0"/>
                <a:cs typeface="Times New Roman" panose="02020503050405090304" pitchFamily="18" charset="0"/>
              </a:rPr>
              <a:t>Real-time processing with interactive map visualization.</a:t>
            </a:r>
          </a:p>
          <a:p>
            <a:pPr lvl="1"/>
            <a:r>
              <a:rPr lang="en-US" sz="2400" dirty="0">
                <a:solidFill>
                  <a:schemeClr val="tx1"/>
                </a:solidFill>
                <a:latin typeface="Times New Roman" panose="02020503050405090304" pitchFamily="18" charset="0"/>
                <a:cs typeface="Times New Roman" panose="02020503050405090304" pitchFamily="18" charset="0"/>
              </a:rPr>
              <a:t>Farmers could access site-specific soil fertility information instantly.</a:t>
            </a:r>
          </a:p>
          <a:p>
            <a:endParaRPr lang="en-US"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normAutofit/>
          </a:bodyPr>
          <a:lstStyle/>
          <a:p>
            <a:r>
              <a:rPr lang="en-US" dirty="0">
                <a:latin typeface="Times New Roman" panose="02020503050405090304" pitchFamily="18" charset="0"/>
                <a:cs typeface="Times New Roman" panose="02020503050405090304" pitchFamily="18" charset="0"/>
              </a:rPr>
              <a:t>RESULTS AND DISCUSSION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44379" y="1366787"/>
            <a:ext cx="11203071" cy="4722864"/>
          </a:xfrm>
        </p:spPr>
        <p:txBody>
          <a:bodyPr/>
          <a:lstStyle/>
          <a:p>
            <a:pPr marL="457200" indent="-457200" algn="just">
              <a:lnSpc>
                <a:spcPct val="100000"/>
              </a:lnSpc>
              <a:buFont typeface="+mj-lt"/>
              <a:buAutoNum type="arabicPeriod"/>
            </a:pPr>
            <a:r>
              <a:rPr lang="en-US" dirty="0">
                <a:solidFill>
                  <a:schemeClr val="tx1"/>
                </a:solidFill>
                <a:latin typeface="Times New Roman" panose="02020503050405090304" pitchFamily="18" charset="0"/>
                <a:cs typeface="Times New Roman" panose="02020503050405090304" pitchFamily="18" charset="0"/>
              </a:rPr>
              <a:t>The Soil Fertility Index (SFI) system successfully integrates Machine Learning (Random Forest) and GIS to provide real-time, site-specific soil fertility predictions.</a:t>
            </a:r>
          </a:p>
          <a:p>
            <a:pPr marL="457200" indent="-457200" algn="just">
              <a:lnSpc>
                <a:spcPct val="100000"/>
              </a:lnSpc>
              <a:buFont typeface="+mj-lt"/>
              <a:buAutoNum type="arabicPeriod"/>
            </a:pPr>
            <a:r>
              <a:rPr lang="en-US" dirty="0">
                <a:solidFill>
                  <a:schemeClr val="tx1"/>
                </a:solidFill>
                <a:latin typeface="Times New Roman" panose="02020503050405090304" pitchFamily="18" charset="0"/>
                <a:cs typeface="Times New Roman" panose="02020503050405090304" pitchFamily="18" charset="0"/>
              </a:rPr>
              <a:t> Results showed high accuracy (R² = 0.87), proving that combining soil properties with NDVI and DEM improves prediction reliability.</a:t>
            </a:r>
          </a:p>
          <a:p>
            <a:pPr marL="457200" indent="-457200" algn="just">
              <a:lnSpc>
                <a:spcPct val="200000"/>
              </a:lnSpc>
              <a:buFont typeface="+mj-lt"/>
              <a:buAutoNum type="arabicPeriod"/>
            </a:pPr>
            <a:r>
              <a:rPr lang="en-US" dirty="0">
                <a:solidFill>
                  <a:schemeClr val="tx1"/>
                </a:solidFill>
                <a:latin typeface="Times New Roman" panose="02020503050405090304" pitchFamily="18" charset="0"/>
                <a:cs typeface="Times New Roman" panose="02020503050405090304" pitchFamily="18" charset="0"/>
              </a:rPr>
              <a:t>The web-based application is fast, affordable and user-friendly offering farmers practical insights for fertilizer use, crop selection and sustainable land management.</a:t>
            </a:r>
          </a:p>
          <a:p>
            <a:pPr marL="457200" indent="-457200" algn="just">
              <a:lnSpc>
                <a:spcPct val="100000"/>
              </a:lnSpc>
              <a:buFont typeface="+mj-lt"/>
              <a:buAutoNum type="arabicPeriod"/>
            </a:pPr>
            <a:r>
              <a:rPr lang="en-US" dirty="0">
                <a:solidFill>
                  <a:schemeClr val="tx1"/>
                </a:solidFill>
                <a:latin typeface="Times New Roman" panose="02020503050405090304" pitchFamily="18" charset="0"/>
                <a:cs typeface="Times New Roman" panose="02020503050405090304" pitchFamily="18" charset="0"/>
              </a:rPr>
              <a:t>This research contributes to the field of computer science by providing a scalable, data-driven framework that can be adapted to other environmental and decision-support systems.</a:t>
            </a:r>
          </a:p>
          <a:p>
            <a:pPr algn="just">
              <a:lnSpc>
                <a:spcPct val="100000"/>
              </a:lnSpc>
            </a:pPr>
            <a:endParaRPr lang="en-US" dirty="0">
              <a:solidFill>
                <a:schemeClr val="tx1"/>
              </a:solidFill>
              <a:latin typeface="Times New Roman" panose="02020503050405090304" pitchFamily="18" charset="0"/>
              <a:cs typeface="Times New Roman" panose="02020503050405090304" pitchFamily="18" charset="0"/>
            </a:endParaRPr>
          </a:p>
          <a:p>
            <a:pPr marL="457200" indent="-457200" algn="just">
              <a:lnSpc>
                <a:spcPct val="100000"/>
              </a:lnSpc>
              <a:buFont typeface="+mj-lt"/>
              <a:buAutoNum type="arabicPeriod"/>
            </a:pPr>
            <a:endParaRPr lang="en-US"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CONCLUSION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6628" y="1347537"/>
            <a:ext cx="11266290" cy="4706754"/>
          </a:xfrm>
        </p:spPr>
        <p:txBody>
          <a:bodyPr>
            <a:normAutofit/>
          </a:bodyPr>
          <a:lstStyle/>
          <a:p>
            <a:r>
              <a:rPr lang="en-US" sz="1600" dirty="0">
                <a:solidFill>
                  <a:schemeClr val="tx1"/>
                </a:solidFill>
                <a:latin typeface="Times New Roman" panose="02020503050405090304" pitchFamily="18" charset="0"/>
                <a:cs typeface="Times New Roman" panose="02020503050405090304" pitchFamily="18" charset="0"/>
              </a:rPr>
              <a:t>Agbir, T. (2023). </a:t>
            </a:r>
            <a:r>
              <a:rPr lang="en-US" sz="1600" i="1" dirty="0">
                <a:solidFill>
                  <a:schemeClr val="tx1"/>
                </a:solidFill>
                <a:latin typeface="Times New Roman" panose="02020503050405090304" pitchFamily="18" charset="0"/>
                <a:cs typeface="Times New Roman" panose="02020503050405090304" pitchFamily="18" charset="0"/>
              </a:rPr>
              <a:t>Agriculture facts and figures 2019: Implications for sustainable farming in Ghana</a:t>
            </a:r>
            <a:r>
              <a:rPr lang="en-US" sz="1600" dirty="0">
                <a:solidFill>
                  <a:schemeClr val="tx1"/>
                </a:solidFill>
                <a:latin typeface="Times New Roman" panose="02020503050405090304" pitchFamily="18" charset="0"/>
                <a:cs typeface="Times New Roman" panose="02020503050405090304" pitchFamily="18" charset="0"/>
              </a:rPr>
              <a:t>. Ministry of Food and Agriculture.</a:t>
            </a:r>
          </a:p>
          <a:p>
            <a:r>
              <a:rPr lang="en-US" sz="1600" dirty="0">
                <a:solidFill>
                  <a:schemeClr val="tx1"/>
                </a:solidFill>
                <a:latin typeface="Times New Roman" panose="02020503050405090304" pitchFamily="18" charset="0"/>
                <a:cs typeface="Times New Roman" panose="02020503050405090304" pitchFamily="18" charset="0"/>
              </a:rPr>
              <a:t>Collinger, J. L., Boninger, M. L., &amp; Anderson, K. D. (2019). Brain–computer interface and rehabilitation: The state of the art. </a:t>
            </a:r>
            <a:r>
              <a:rPr lang="en-US" sz="1600" i="1" dirty="0">
                <a:solidFill>
                  <a:schemeClr val="tx1"/>
                </a:solidFill>
                <a:latin typeface="Times New Roman" panose="02020503050405090304" pitchFamily="18" charset="0"/>
                <a:cs typeface="Times New Roman" panose="02020503050405090304" pitchFamily="18" charset="0"/>
              </a:rPr>
              <a:t>Nature Reviews Neurology, 15</a:t>
            </a:r>
            <a:r>
              <a:rPr lang="en-US" sz="1600" dirty="0">
                <a:solidFill>
                  <a:schemeClr val="tx1"/>
                </a:solidFill>
                <a:latin typeface="Times New Roman" panose="02020503050405090304" pitchFamily="18" charset="0"/>
                <a:cs typeface="Times New Roman" panose="02020503050405090304" pitchFamily="18" charset="0"/>
              </a:rPr>
              <a:t>(5), 275–287. https://doi.org/10.1038/s41582-019-0177-0</a:t>
            </a:r>
          </a:p>
          <a:p>
            <a:r>
              <a:rPr lang="en-US" sz="1600" dirty="0">
                <a:solidFill>
                  <a:schemeClr val="tx1"/>
                </a:solidFill>
                <a:latin typeface="Times New Roman" panose="02020503050405090304" pitchFamily="18" charset="0"/>
                <a:cs typeface="Times New Roman" panose="02020503050405090304" pitchFamily="18" charset="0"/>
              </a:rPr>
              <a:t>Dwivedi, Y. K., Hughes, L., Baabdullah, A. M., Ribeiro-Navarrete, S., Giannakis, M., Al-</a:t>
            </a:r>
            <a:r>
              <a:rPr lang="en-US" sz="1600" dirty="0" err="1">
                <a:solidFill>
                  <a:schemeClr val="tx1"/>
                </a:solidFill>
                <a:latin typeface="Times New Roman" panose="02020503050405090304" pitchFamily="18" charset="0"/>
                <a:cs typeface="Times New Roman" panose="02020503050405090304" pitchFamily="18" charset="0"/>
              </a:rPr>
              <a:t>Debei</a:t>
            </a:r>
            <a:r>
              <a:rPr lang="en-US" sz="1600" dirty="0">
                <a:solidFill>
                  <a:schemeClr val="tx1"/>
                </a:solidFill>
                <a:latin typeface="Times New Roman" panose="02020503050405090304" pitchFamily="18" charset="0"/>
                <a:cs typeface="Times New Roman" panose="02020503050405090304" pitchFamily="18" charset="0"/>
              </a:rPr>
              <a:t>, M., … &amp; Wamba, S. F. (2023). Artificial intelligence (AI): Multidisciplinary perspectives on emerging challenges, opportunities, and agenda for research, practice and policy. </a:t>
            </a:r>
            <a:r>
              <a:rPr lang="en-US" sz="1600" i="1" dirty="0">
                <a:solidFill>
                  <a:schemeClr val="tx1"/>
                </a:solidFill>
                <a:latin typeface="Times New Roman" panose="02020503050405090304" pitchFamily="18" charset="0"/>
                <a:cs typeface="Times New Roman" panose="02020503050405090304" pitchFamily="18" charset="0"/>
              </a:rPr>
              <a:t>International Journal of Information Management, 71</a:t>
            </a:r>
            <a:r>
              <a:rPr lang="en-US" sz="1600" dirty="0">
                <a:solidFill>
                  <a:schemeClr val="tx1"/>
                </a:solidFill>
                <a:latin typeface="Times New Roman" panose="02020503050405090304" pitchFamily="18" charset="0"/>
                <a:cs typeface="Times New Roman" panose="02020503050405090304" pitchFamily="18" charset="0"/>
              </a:rPr>
              <a:t>, 102642. https://doi.org/10.1016/j.ijinfomgt.2023.102642</a:t>
            </a:r>
          </a:p>
          <a:p>
            <a:r>
              <a:rPr lang="en-US" sz="1600" dirty="0">
                <a:solidFill>
                  <a:schemeClr val="tx1"/>
                </a:solidFill>
                <a:latin typeface="Times New Roman" panose="02020503050405090304" pitchFamily="18" charset="0"/>
                <a:cs typeface="Times New Roman" panose="02020503050405090304" pitchFamily="18" charset="0"/>
              </a:rPr>
              <a:t>Food and Agriculture Organization (FAO). (2019). </a:t>
            </a:r>
            <a:r>
              <a:rPr lang="en-US" sz="1600" i="1" dirty="0">
                <a:solidFill>
                  <a:schemeClr val="tx1"/>
                </a:solidFill>
                <a:latin typeface="Times New Roman" panose="02020503050405090304" pitchFamily="18" charset="0"/>
                <a:cs typeface="Times New Roman" panose="02020503050405090304" pitchFamily="18" charset="0"/>
              </a:rPr>
              <a:t>The state of the world’s biodiversity for food and agriculture</a:t>
            </a:r>
            <a:r>
              <a:rPr lang="en-US" sz="1600" dirty="0">
                <a:solidFill>
                  <a:schemeClr val="tx1"/>
                </a:solidFill>
                <a:latin typeface="Times New Roman" panose="02020503050405090304" pitchFamily="18" charset="0"/>
                <a:cs typeface="Times New Roman" panose="02020503050405090304" pitchFamily="18" charset="0"/>
              </a:rPr>
              <a:t>. FAO Commission on Genetic Resources for Food and Agriculture Assessments. Rome: FAO.</a:t>
            </a:r>
          </a:p>
          <a:p>
            <a:r>
              <a:rPr lang="en-US" sz="1600" dirty="0">
                <a:solidFill>
                  <a:schemeClr val="tx1"/>
                </a:solidFill>
                <a:latin typeface="Times New Roman" panose="02020503050405090304" pitchFamily="18" charset="0"/>
                <a:cs typeface="Times New Roman" panose="02020503050405090304" pitchFamily="18" charset="0"/>
              </a:rPr>
              <a:t>Lawrence, A. (2020). Soil sampling strategies using classical and spatial statistics: A review. </a:t>
            </a:r>
            <a:r>
              <a:rPr lang="en-US" sz="1600" i="1" dirty="0">
                <a:solidFill>
                  <a:schemeClr val="tx1"/>
                </a:solidFill>
                <a:latin typeface="Times New Roman" panose="02020503050405090304" pitchFamily="18" charset="0"/>
                <a:cs typeface="Times New Roman" panose="02020503050405090304" pitchFamily="18" charset="0"/>
              </a:rPr>
              <a:t>Agronomy Journal, 112</a:t>
            </a:r>
            <a:r>
              <a:rPr lang="en-US" sz="1600" dirty="0">
                <a:solidFill>
                  <a:schemeClr val="tx1"/>
                </a:solidFill>
                <a:latin typeface="Times New Roman" panose="02020503050405090304" pitchFamily="18" charset="0"/>
                <a:cs typeface="Times New Roman" panose="02020503050405090304" pitchFamily="18" charset="0"/>
              </a:rPr>
              <a:t>(3), 2135–2150. https://doi.org/10.1002/agj2.20123</a:t>
            </a:r>
          </a:p>
          <a:p>
            <a:r>
              <a:rPr lang="en-US" sz="1600" dirty="0">
                <a:solidFill>
                  <a:schemeClr val="tx1"/>
                </a:solidFill>
                <a:latin typeface="Times New Roman" panose="02020503050405090304" pitchFamily="18" charset="0"/>
                <a:cs typeface="Times New Roman" panose="02020503050405090304" pitchFamily="18" charset="0"/>
              </a:rPr>
              <a:t>Nketiah, K. S. (2011). </a:t>
            </a:r>
            <a:r>
              <a:rPr lang="en-US" sz="1600" i="1" dirty="0">
                <a:solidFill>
                  <a:schemeClr val="tx1"/>
                </a:solidFill>
                <a:latin typeface="Times New Roman" panose="02020503050405090304" pitchFamily="18" charset="0"/>
                <a:cs typeface="Times New Roman" panose="02020503050405090304" pitchFamily="18" charset="0"/>
              </a:rPr>
              <a:t>Soil Fertility Index for Ghana: Development and application</a:t>
            </a:r>
            <a:r>
              <a:rPr lang="en-US" sz="1600" dirty="0">
                <a:solidFill>
                  <a:schemeClr val="tx1"/>
                </a:solidFill>
                <a:latin typeface="Times New Roman" panose="02020503050405090304" pitchFamily="18" charset="0"/>
                <a:cs typeface="Times New Roman" panose="02020503050405090304" pitchFamily="18" charset="0"/>
              </a:rPr>
              <a:t> (Master’s thesis). University of Ghana, Legon.</a:t>
            </a:r>
          </a:p>
          <a:p>
            <a:r>
              <a:rPr lang="en-US" sz="1600" dirty="0">
                <a:solidFill>
                  <a:schemeClr val="tx1"/>
                </a:solidFill>
                <a:latin typeface="Times New Roman" panose="02020503050405090304" pitchFamily="18" charset="0"/>
                <a:cs typeface="Times New Roman" panose="02020503050405090304" pitchFamily="18" charset="0"/>
              </a:rPr>
              <a:t>Schindelbeck, R., Moebius-Clune, B., &amp; van Es, H. (2016). </a:t>
            </a:r>
            <a:r>
              <a:rPr lang="en-US" sz="1600" i="1" dirty="0">
                <a:solidFill>
                  <a:schemeClr val="tx1"/>
                </a:solidFill>
                <a:latin typeface="Times New Roman" panose="02020503050405090304" pitchFamily="18" charset="0"/>
                <a:cs typeface="Times New Roman" panose="02020503050405090304" pitchFamily="18" charset="0"/>
              </a:rPr>
              <a:t>Guidelines for sampling soils for nutrient management</a:t>
            </a:r>
            <a:r>
              <a:rPr lang="en-US" sz="1600" dirty="0">
                <a:solidFill>
                  <a:schemeClr val="tx1"/>
                </a:solidFill>
                <a:latin typeface="Times New Roman" panose="02020503050405090304" pitchFamily="18" charset="0"/>
                <a:cs typeface="Times New Roman" panose="02020503050405090304" pitchFamily="18" charset="0"/>
              </a:rPr>
              <a:t> (Fact Sheet SD-FS-50). Cornell University Cooperative Extension.</a:t>
            </a:r>
          </a:p>
          <a:p>
            <a:r>
              <a:rPr lang="en-US" sz="1600" dirty="0">
                <a:solidFill>
                  <a:schemeClr val="tx1"/>
                </a:solidFill>
                <a:latin typeface="Times New Roman" panose="02020503050405090304" pitchFamily="18" charset="0"/>
                <a:cs typeface="Times New Roman" panose="02020503050405090304" pitchFamily="18" charset="0"/>
              </a:rPr>
              <a:t>Sensors. (2024). Soil fertility index and the distribution of soil fertility across agricultural fields. </a:t>
            </a:r>
            <a:r>
              <a:rPr lang="en-US" sz="1600" i="1" dirty="0">
                <a:solidFill>
                  <a:schemeClr val="tx1"/>
                </a:solidFill>
                <a:latin typeface="Times New Roman" panose="02020503050405090304" pitchFamily="18" charset="0"/>
                <a:cs typeface="Times New Roman" panose="02020503050405090304" pitchFamily="18" charset="0"/>
              </a:rPr>
              <a:t>Sensors, 24</a:t>
            </a:r>
            <a:r>
              <a:rPr lang="en-US" sz="1600" dirty="0">
                <a:solidFill>
                  <a:schemeClr val="tx1"/>
                </a:solidFill>
                <a:latin typeface="Times New Roman" panose="02020503050405090304" pitchFamily="18" charset="0"/>
                <a:cs typeface="Times New Roman" panose="02020503050405090304" pitchFamily="18" charset="0"/>
              </a:rPr>
              <a:t>(1), 864. https://doi.org/10.3390/s240100864</a:t>
            </a:r>
          </a:p>
          <a:p>
            <a:endParaRPr lang="en-US" sz="1600" dirty="0">
              <a:solidFill>
                <a:schemeClr val="tx1"/>
              </a:solidFill>
              <a:latin typeface="Times New Roman" panose="02020503050405090304" pitchFamily="18" charset="0"/>
              <a:cs typeface="Times New Roman" panose="02020503050405090304" pitchFamily="18" charset="0"/>
            </a:endParaRPr>
          </a:p>
        </p:txBody>
      </p:sp>
      <p:sp>
        <p:nvSpPr>
          <p:cNvPr id="3" name="Title 2"/>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REFERENCES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807085" y="1341120"/>
            <a:ext cx="6245860" cy="3822065"/>
          </a:xfrm>
          <a:prstGeom prst="rect">
            <a:avLst/>
          </a:prstGeom>
          <a:solidFill>
            <a:srgbClr val="0A68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Box 2"/>
          <p:cNvSpPr txBox="1"/>
          <p:nvPr/>
        </p:nvSpPr>
        <p:spPr>
          <a:xfrm>
            <a:off x="1440180" y="1508125"/>
            <a:ext cx="6134735" cy="3488055"/>
          </a:xfrm>
          <a:prstGeom prst="rect">
            <a:avLst/>
          </a:prstGeom>
          <a:noFill/>
        </p:spPr>
        <p:txBody>
          <a:bodyPr wrap="square" rtlCol="0">
            <a:spAutoFit/>
          </a:bodyPr>
          <a:lstStyle/>
          <a:p>
            <a:pPr>
              <a:lnSpc>
                <a:spcPct val="80000"/>
              </a:lnSpc>
              <a:spcBef>
                <a:spcPts val="0"/>
              </a:spcBef>
              <a:spcAft>
                <a:spcPts val="0"/>
              </a:spcAft>
            </a:pPr>
            <a:r>
              <a:rPr lang="en-US" sz="13800">
                <a:solidFill>
                  <a:schemeClr val="bg1"/>
                </a:solidFill>
              </a:rPr>
              <a:t>Thank You!</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3FBEF1"/>
      </a:accent1>
      <a:accent2>
        <a:srgbClr val="00820F"/>
      </a:accent2>
      <a:accent3>
        <a:srgbClr val="A5A5A5"/>
      </a:accent3>
      <a:accent4>
        <a:srgbClr val="FFF901"/>
      </a:accent4>
      <a:accent5>
        <a:srgbClr val="833C0B"/>
      </a:accent5>
      <a:accent6>
        <a:srgbClr val="6F3B55"/>
      </a:accent6>
      <a:hlink>
        <a:srgbClr val="0095B8"/>
      </a:hlink>
      <a:folHlink>
        <a:srgbClr val="00EAEA"/>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1388</Words>
  <Application>Microsoft Office PowerPoint</Application>
  <PresentationFormat>Widescreen</PresentationFormat>
  <Paragraphs>106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Century Gothic</vt:lpstr>
      <vt:lpstr>Noto Sans Symbols</vt:lpstr>
      <vt:lpstr>Times New Roman</vt:lpstr>
      <vt:lpstr>Times New Roman Regular</vt:lpstr>
      <vt:lpstr>Office Theme</vt:lpstr>
      <vt:lpstr>PowerPoint Presentation</vt:lpstr>
      <vt:lpstr>PowerPoint Presentation</vt:lpstr>
      <vt:lpstr>SOIL FERTILITY </vt:lpstr>
      <vt:lpstr>PROBLEM STATEMENT</vt:lpstr>
      <vt:lpstr>OBJECTIVE OF THE STUDY</vt:lpstr>
      <vt:lpstr>METHODOLOGY</vt:lpstr>
      <vt:lpstr>SYSTEM ARCHITECTURE</vt:lpstr>
      <vt:lpstr>DATA FLOW DIAGRAM</vt:lpstr>
      <vt:lpstr>CONCEPTUAL FLOW DIAGRAM</vt:lpstr>
      <vt:lpstr>IMPLEMENTATION AND RESULTS</vt:lpstr>
      <vt:lpstr>IMPLEMENTATION AND RESULTS</vt:lpstr>
      <vt:lpstr>IMPLEMENTATION AND RESULTS</vt:lpstr>
      <vt:lpstr>PowerPoint Presentation</vt:lpstr>
      <vt:lpstr>IMPLEMENTATIONS AND RESULTS </vt:lpstr>
      <vt:lpstr>IMPLEMENTATIONS AND RESULTS </vt:lpstr>
      <vt:lpstr>RESULTS AND DISCUSSION</vt:lpstr>
      <vt:lpstr>CONCLUSION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emmanuel appiah</dc:creator>
  <cp:lastModifiedBy>ABDUL BASIT</cp:lastModifiedBy>
  <cp:revision>72</cp:revision>
  <dcterms:created xsi:type="dcterms:W3CDTF">2025-09-26T00:15:56Z</dcterms:created>
  <dcterms:modified xsi:type="dcterms:W3CDTF">2025-09-26T10:44:25Z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C2B79C5C6D467A2F3BDBD568B1927C07_43</vt:lpwstr>
  </property>
  <property fmtid="{D5CDD505-2E9C-101B-9397-08002B2CF9AE}" pid="3" name="KSOProductBuildVer">
    <vt:lpwstr>1033-6.12.2.8699</vt:lpwstr>
  </property>
</Properties>
</file>